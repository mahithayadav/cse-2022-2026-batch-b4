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76" r:id="rId9"/>
    <p:sldId id="275" r:id="rId10"/>
    <p:sldId id="281" r:id="rId11"/>
    <p:sldId id="266" r:id="rId12"/>
    <p:sldId id="274" r:id="rId13"/>
    <p:sldId id="267" r:id="rId14"/>
    <p:sldId id="277" r:id="rId15"/>
    <p:sldId id="278" r:id="rId16"/>
    <p:sldId id="279" r:id="rId17"/>
    <p:sldId id="280" r:id="rId18"/>
    <p:sldId id="268" r:id="rId19"/>
    <p:sldId id="271" r:id="rId20"/>
    <p:sldId id="270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F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8D565-C62F-4C19-B254-F0F5106D8CC5}" v="10" dt="2026-03-11T17:39:43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566" y="72"/>
      </p:cViewPr>
      <p:guideLst>
        <p:guide orient="horz" pos="2160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i Yadav" userId="bb953e4139f4bad6" providerId="LiveId" clId="{D5683BEA-6642-46EE-BB87-C5F71723A66D}"/>
    <pc:docChg chg="undo custSel addSld delSld modSld sldOrd">
      <pc:chgData name="Mahi Yadav" userId="bb953e4139f4bad6" providerId="LiveId" clId="{D5683BEA-6642-46EE-BB87-C5F71723A66D}" dt="2026-03-11T17:39:43.161" v="748"/>
      <pc:docMkLst>
        <pc:docMk/>
      </pc:docMkLst>
      <pc:sldChg chg="addSp delSp modSp mod">
        <pc:chgData name="Mahi Yadav" userId="bb953e4139f4bad6" providerId="LiveId" clId="{D5683BEA-6642-46EE-BB87-C5F71723A66D}" dt="2026-03-11T17:39:09.129" v="742"/>
        <pc:sldMkLst>
          <pc:docMk/>
          <pc:sldMk cId="0" sldId="267"/>
        </pc:sldMkLst>
        <pc:picChg chg="del">
          <ac:chgData name="Mahi Yadav" userId="bb953e4139f4bad6" providerId="LiveId" clId="{D5683BEA-6642-46EE-BB87-C5F71723A66D}" dt="2026-03-11T17:39:08.524" v="741" actId="478"/>
          <ac:picMkLst>
            <pc:docMk/>
            <pc:sldMk cId="0" sldId="267"/>
            <ac:picMk id="5" creationId="{838BAF1E-7F95-A208-E92C-5CAB00A41B36}"/>
          </ac:picMkLst>
        </pc:picChg>
        <pc:picChg chg="add mod">
          <ac:chgData name="Mahi Yadav" userId="bb953e4139f4bad6" providerId="LiveId" clId="{D5683BEA-6642-46EE-BB87-C5F71723A66D}" dt="2026-03-11T17:39:09.129" v="742"/>
          <ac:picMkLst>
            <pc:docMk/>
            <pc:sldMk cId="0" sldId="267"/>
            <ac:picMk id="6" creationId="{3EED725D-B71C-09EC-BEA8-5114CD45C39C}"/>
          </ac:picMkLst>
        </pc:picChg>
      </pc:sldChg>
      <pc:sldChg chg="addSp delSp modSp add mod ord">
        <pc:chgData name="Mahi Yadav" userId="bb953e4139f4bad6" providerId="LiveId" clId="{D5683BEA-6642-46EE-BB87-C5F71723A66D}" dt="2026-03-11T17:37:57.753" v="705" actId="2711"/>
        <pc:sldMkLst>
          <pc:docMk/>
          <pc:sldMk cId="3155789902" sldId="275"/>
        </pc:sldMkLst>
        <pc:spChg chg="add mod">
          <ac:chgData name="Mahi Yadav" userId="bb953e4139f4bad6" providerId="LiveId" clId="{D5683BEA-6642-46EE-BB87-C5F71723A66D}" dt="2026-03-11T17:37:57.753" v="705" actId="2711"/>
          <ac:spMkLst>
            <pc:docMk/>
            <pc:sldMk cId="3155789902" sldId="275"/>
            <ac:spMk id="6" creationId="{92C18B17-CD13-8383-855C-0E254DA875EE}"/>
          </ac:spMkLst>
        </pc:spChg>
        <pc:picChg chg="add mod">
          <ac:chgData name="Mahi Yadav" userId="bb953e4139f4bad6" providerId="LiveId" clId="{D5683BEA-6642-46EE-BB87-C5F71723A66D}" dt="2026-03-11T17:36:54.984" v="678"/>
          <ac:picMkLst>
            <pc:docMk/>
            <pc:sldMk cId="3155789902" sldId="275"/>
            <ac:picMk id="4" creationId="{9D55CC0B-5B4F-7786-DECD-A332A813AD32}"/>
          </ac:picMkLst>
        </pc:picChg>
        <pc:picChg chg="add mod">
          <ac:chgData name="Mahi Yadav" userId="bb953e4139f4bad6" providerId="LiveId" clId="{D5683BEA-6642-46EE-BB87-C5F71723A66D}" dt="2026-03-11T17:37:01.367" v="679"/>
          <ac:picMkLst>
            <pc:docMk/>
            <pc:sldMk cId="3155789902" sldId="275"/>
            <ac:picMk id="5" creationId="{DD01AA62-F181-FA33-CB66-FC6B1BF4D639}"/>
          </ac:picMkLst>
        </pc:picChg>
        <pc:picChg chg="add del mod">
          <ac:chgData name="Mahi Yadav" userId="bb953e4139f4bad6" providerId="LiveId" clId="{D5683BEA-6642-46EE-BB87-C5F71723A66D}" dt="2026-03-11T17:36:54.129" v="677" actId="478"/>
          <ac:picMkLst>
            <pc:docMk/>
            <pc:sldMk cId="3155789902" sldId="275"/>
            <ac:picMk id="11" creationId="{65A1F7BA-8E70-12BD-593B-7627ED671F48}"/>
          </ac:picMkLst>
        </pc:picChg>
      </pc:sldChg>
      <pc:sldChg chg="addSp delSp modSp add mod">
        <pc:chgData name="Mahi Yadav" userId="bb953e4139f4bad6" providerId="LiveId" clId="{D5683BEA-6642-46EE-BB87-C5F71723A66D}" dt="2026-03-09T17:57:51.607" v="676" actId="1036"/>
        <pc:sldMkLst>
          <pc:docMk/>
          <pc:sldMk cId="170683851" sldId="276"/>
        </pc:sldMkLst>
        <pc:picChg chg="add mod">
          <ac:chgData name="Mahi Yadav" userId="bb953e4139f4bad6" providerId="LiveId" clId="{D5683BEA-6642-46EE-BB87-C5F71723A66D}" dt="2026-03-09T17:57:51.607" v="676" actId="1036"/>
          <ac:picMkLst>
            <pc:docMk/>
            <pc:sldMk cId="170683851" sldId="276"/>
            <ac:picMk id="9" creationId="{AA9652F3-AE8D-5A9D-9A50-BA9AF2A3F557}"/>
          </ac:picMkLst>
        </pc:picChg>
      </pc:sldChg>
      <pc:sldChg chg="addSp delSp modSp mod">
        <pc:chgData name="Mahi Yadav" userId="bb953e4139f4bad6" providerId="LiveId" clId="{D5683BEA-6642-46EE-BB87-C5F71723A66D}" dt="2026-03-11T17:39:22.828" v="744"/>
        <pc:sldMkLst>
          <pc:docMk/>
          <pc:sldMk cId="3962559019" sldId="277"/>
        </pc:sldMkLst>
        <pc:picChg chg="add mod">
          <ac:chgData name="Mahi Yadav" userId="bb953e4139f4bad6" providerId="LiveId" clId="{D5683BEA-6642-46EE-BB87-C5F71723A66D}" dt="2026-03-11T17:39:22.828" v="744"/>
          <ac:picMkLst>
            <pc:docMk/>
            <pc:sldMk cId="3962559019" sldId="277"/>
            <ac:picMk id="5" creationId="{ECCCBAE0-34F7-DDAF-AF0D-8F2D94CB70EC}"/>
          </ac:picMkLst>
        </pc:picChg>
        <pc:picChg chg="del">
          <ac:chgData name="Mahi Yadav" userId="bb953e4139f4bad6" providerId="LiveId" clId="{D5683BEA-6642-46EE-BB87-C5F71723A66D}" dt="2026-03-11T17:39:22.403" v="743" actId="478"/>
          <ac:picMkLst>
            <pc:docMk/>
            <pc:sldMk cId="3962559019" sldId="277"/>
            <ac:picMk id="6" creationId="{90833638-9072-A06D-6EF4-4CDC2D32411E}"/>
          </ac:picMkLst>
        </pc:picChg>
      </pc:sldChg>
      <pc:sldChg chg="addSp delSp modSp mod">
        <pc:chgData name="Mahi Yadav" userId="bb953e4139f4bad6" providerId="LiveId" clId="{D5683BEA-6642-46EE-BB87-C5F71723A66D}" dt="2026-03-11T17:39:33.668" v="746"/>
        <pc:sldMkLst>
          <pc:docMk/>
          <pc:sldMk cId="3639516563" sldId="278"/>
        </pc:sldMkLst>
        <pc:picChg chg="add mod">
          <ac:chgData name="Mahi Yadav" userId="bb953e4139f4bad6" providerId="LiveId" clId="{D5683BEA-6642-46EE-BB87-C5F71723A66D}" dt="2026-03-11T17:39:33.668" v="746"/>
          <ac:picMkLst>
            <pc:docMk/>
            <pc:sldMk cId="3639516563" sldId="278"/>
            <ac:picMk id="5" creationId="{F2F1947F-6FD1-C663-610D-F173AACDFA6E}"/>
          </ac:picMkLst>
        </pc:picChg>
        <pc:picChg chg="del">
          <ac:chgData name="Mahi Yadav" userId="bb953e4139f4bad6" providerId="LiveId" clId="{D5683BEA-6642-46EE-BB87-C5F71723A66D}" dt="2026-03-11T17:39:33.298" v="745" actId="478"/>
          <ac:picMkLst>
            <pc:docMk/>
            <pc:sldMk cId="3639516563" sldId="278"/>
            <ac:picMk id="6" creationId="{9869429C-1492-3EC1-1B14-9F1259BD289D}"/>
          </ac:picMkLst>
        </pc:picChg>
      </pc:sldChg>
      <pc:sldChg chg="addSp delSp modSp mod">
        <pc:chgData name="Mahi Yadav" userId="bb953e4139f4bad6" providerId="LiveId" clId="{D5683BEA-6642-46EE-BB87-C5F71723A66D}" dt="2026-03-11T17:39:43.161" v="748"/>
        <pc:sldMkLst>
          <pc:docMk/>
          <pc:sldMk cId="3233522140" sldId="279"/>
        </pc:sldMkLst>
        <pc:picChg chg="add mod">
          <ac:chgData name="Mahi Yadav" userId="bb953e4139f4bad6" providerId="LiveId" clId="{D5683BEA-6642-46EE-BB87-C5F71723A66D}" dt="2026-03-11T17:39:43.161" v="748"/>
          <ac:picMkLst>
            <pc:docMk/>
            <pc:sldMk cId="3233522140" sldId="279"/>
            <ac:picMk id="5" creationId="{5575A85A-7005-3DD0-A7BB-24729450AF1C}"/>
          </ac:picMkLst>
        </pc:picChg>
        <pc:picChg chg="del">
          <ac:chgData name="Mahi Yadav" userId="bb953e4139f4bad6" providerId="LiveId" clId="{D5683BEA-6642-46EE-BB87-C5F71723A66D}" dt="2026-03-11T17:39:42.480" v="747" actId="478"/>
          <ac:picMkLst>
            <pc:docMk/>
            <pc:sldMk cId="3233522140" sldId="279"/>
            <ac:picMk id="6" creationId="{6CDF05A9-D846-F71B-A6DF-558EFC83D742}"/>
          </ac:picMkLst>
        </pc:picChg>
      </pc:sldChg>
      <pc:sldChg chg="addSp delSp modSp add mod">
        <pc:chgData name="Mahi Yadav" userId="bb953e4139f4bad6" providerId="LiveId" clId="{D5683BEA-6642-46EE-BB87-C5F71723A66D}" dt="2026-03-11T17:38:40.943" v="740" actId="14100"/>
        <pc:sldMkLst>
          <pc:docMk/>
          <pc:sldMk cId="1872388176" sldId="281"/>
        </pc:sldMkLst>
        <pc:spChg chg="mod">
          <ac:chgData name="Mahi Yadav" userId="bb953e4139f4bad6" providerId="LiveId" clId="{D5683BEA-6642-46EE-BB87-C5F71723A66D}" dt="2026-03-11T17:38:31.930" v="735" actId="20577"/>
          <ac:spMkLst>
            <pc:docMk/>
            <pc:sldMk cId="1872388176" sldId="281"/>
            <ac:spMk id="6" creationId="{B4CFD43D-AF6B-3837-4E4D-81B7FEEE5295}"/>
          </ac:spMkLst>
        </pc:spChg>
        <pc:picChg chg="del">
          <ac:chgData name="Mahi Yadav" userId="bb953e4139f4bad6" providerId="LiveId" clId="{D5683BEA-6642-46EE-BB87-C5F71723A66D}" dt="2026-03-11T17:38:37.249" v="738" actId="478"/>
          <ac:picMkLst>
            <pc:docMk/>
            <pc:sldMk cId="1872388176" sldId="281"/>
            <ac:picMk id="4" creationId="{A8161CB8-C70C-91A6-BFBB-18DE759E4D09}"/>
          </ac:picMkLst>
        </pc:picChg>
        <pc:picChg chg="del">
          <ac:chgData name="Mahi Yadav" userId="bb953e4139f4bad6" providerId="LiveId" clId="{D5683BEA-6642-46EE-BB87-C5F71723A66D}" dt="2026-03-11T17:38:34.046" v="736" actId="478"/>
          <ac:picMkLst>
            <pc:docMk/>
            <pc:sldMk cId="1872388176" sldId="281"/>
            <ac:picMk id="5" creationId="{9149A324-0F75-A8EF-51DD-FE76630A4C2C}"/>
          </ac:picMkLst>
        </pc:picChg>
        <pc:picChg chg="add mod">
          <ac:chgData name="Mahi Yadav" userId="bb953e4139f4bad6" providerId="LiveId" clId="{D5683BEA-6642-46EE-BB87-C5F71723A66D}" dt="2026-03-11T17:38:34.416" v="737"/>
          <ac:picMkLst>
            <pc:docMk/>
            <pc:sldMk cId="1872388176" sldId="281"/>
            <ac:picMk id="7" creationId="{86FAFBA6-67F5-D0F2-0540-BE31D2898D3F}"/>
          </ac:picMkLst>
        </pc:picChg>
        <pc:picChg chg="add mod">
          <ac:chgData name="Mahi Yadav" userId="bb953e4139f4bad6" providerId="LiveId" clId="{D5683BEA-6642-46EE-BB87-C5F71723A66D}" dt="2026-03-11T17:38:40.943" v="740" actId="14100"/>
          <ac:picMkLst>
            <pc:docMk/>
            <pc:sldMk cId="1872388176" sldId="281"/>
            <ac:picMk id="8" creationId="{D38F964C-5C7D-0789-74FB-6EA50CB6BD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44861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 i="1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  <a:defRPr sz="4400" b="0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  <a:defRPr/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/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777239" y="6642828"/>
            <a:ext cx="5654039" cy="215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Dept. of Computer Science and Engineering</a:t>
            </a: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31278" y="6641866"/>
            <a:ext cx="5322917" cy="216133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Srinivasa Ramanujan Institute of Technology</a:t>
            </a: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‹#›</a:t>
            </a:fld>
            <a:endParaRPr sz="16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-1" y="0"/>
            <a:ext cx="12191999" cy="23275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endParaRPr sz="1500" b="1" i="1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0" y="6642735"/>
            <a:ext cx="1159510" cy="215265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BAtch no</a:t>
            </a: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1"/>
          <p:cNvSpPr txBox="1"/>
          <p:nvPr/>
        </p:nvSpPr>
        <p:spPr>
          <a:xfrm>
            <a:off x="3759654" y="2475580"/>
            <a:ext cx="4672674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3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Ms. C. Rekha, </a:t>
            </a:r>
            <a:r>
              <a:rPr lang="en-IN" sz="105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M. Tech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  <a:endParaRPr lang="en-IN" sz="1400" b="0" dirty="0"/>
          </a:p>
        </p:txBody>
      </p:sp>
      <p:sp>
        <p:nvSpPr>
          <p:cNvPr id="3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3400" dirty="0">
                <a:effectLst/>
                <a:ea typeface="Times New Roman" panose="02020603050405020304" pitchFamily="18" charset="0"/>
              </a:rPr>
              <a:t>Autonomous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770" dirty="0" err="1"/>
              <a:t>Rotarypuram</a:t>
            </a:r>
            <a:r>
              <a:rPr lang="en-US" sz="2770" dirty="0"/>
              <a:t> Village, B K </a:t>
            </a:r>
            <a:r>
              <a:rPr lang="en-US" sz="2770" dirty="0" err="1"/>
              <a:t>Samudram</a:t>
            </a:r>
            <a:r>
              <a:rPr lang="en-US" sz="2770" dirty="0"/>
              <a:t> Mandal, </a:t>
            </a:r>
            <a:r>
              <a:rPr lang="en-US" sz="2770" dirty="0" err="1"/>
              <a:t>Ananthapuramu</a:t>
            </a:r>
            <a:r>
              <a:rPr lang="en-US" sz="2770" dirty="0"/>
              <a:t> – 515701.</a:t>
            </a:r>
          </a:p>
          <a:p>
            <a:pPr>
              <a:spcBef>
                <a:spcPts val="300"/>
              </a:spcBef>
            </a:pPr>
            <a:r>
              <a:rPr lang="en-IN" altLang="en-US" sz="2770" dirty="0"/>
              <a:t>Accredited by NBA &amp; NAAC with “A” Grade,Affiliated to JNTUA,Ananthapuramu</a:t>
            </a:r>
            <a:endParaRPr lang="en-US" sz="2770" dirty="0"/>
          </a:p>
          <a:p>
            <a:pPr>
              <a:spcAft>
                <a:spcPts val="100"/>
              </a:spcAft>
            </a:pPr>
            <a:r>
              <a:rPr lang="en-US" sz="2770" dirty="0">
                <a:solidFill>
                  <a:schemeClr val="accent1">
                    <a:lumMod val="50000"/>
                  </a:schemeClr>
                </a:solidFill>
              </a:rPr>
              <a:t>202</a:t>
            </a:r>
            <a:r>
              <a:rPr lang="en-IN" altLang="en-US" sz="2770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en-US" sz="2770" dirty="0">
                <a:solidFill>
                  <a:schemeClr val="accent1">
                    <a:lumMod val="50000"/>
                  </a:schemeClr>
                </a:solidFill>
              </a:rPr>
              <a:t>-202</a:t>
            </a:r>
            <a:r>
              <a:rPr lang="en-IN" altLang="en-US" sz="2770" dirty="0">
                <a:solidFill>
                  <a:schemeClr val="accent1">
                    <a:lumMod val="50000"/>
                  </a:schemeClr>
                </a:solidFill>
              </a:rPr>
              <a:t>6</a:t>
            </a:r>
            <a:endParaRPr lang="en-US" sz="2770" b="0" dirty="0"/>
          </a:p>
          <a:p>
            <a:endParaRPr lang="en-IN" sz="2770" b="0" dirty="0"/>
          </a:p>
        </p:txBody>
      </p:sp>
      <p:sp>
        <p:nvSpPr>
          <p:cNvPr id="8" name="Subtitle 11"/>
          <p:cNvSpPr txBox="1"/>
          <p:nvPr/>
        </p:nvSpPr>
        <p:spPr>
          <a:xfrm>
            <a:off x="4904528" y="1873395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G. Yashoda Mahitha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</a:t>
            </a:r>
            <a:r>
              <a:rPr lang="en-US" sz="1400" b="0" dirty="0"/>
              <a:t>224G1A05A2</a:t>
            </a:r>
          </a:p>
        </p:txBody>
      </p:sp>
      <p:sp>
        <p:nvSpPr>
          <p:cNvPr id="10" name="Subtitle 11"/>
          <p:cNvSpPr txBox="1"/>
          <p:nvPr/>
        </p:nvSpPr>
        <p:spPr>
          <a:xfrm>
            <a:off x="8513497" y="1917998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 Nikitha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224G1A0561</a:t>
            </a:r>
          </a:p>
        </p:txBody>
      </p:sp>
      <p:sp>
        <p:nvSpPr>
          <p:cNvPr id="11" name="Rectangle: Rounded Corners 16"/>
          <p:cNvSpPr/>
          <p:nvPr/>
        </p:nvSpPr>
        <p:spPr>
          <a:xfrm>
            <a:off x="755009" y="335270"/>
            <a:ext cx="10593711" cy="926425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301" y="3477046"/>
            <a:ext cx="1527379" cy="1685487"/>
          </a:xfrm>
          <a:prstGeom prst="rect">
            <a:avLst/>
          </a:prstGeom>
        </p:spPr>
      </p:pic>
      <p:sp>
        <p:nvSpPr>
          <p:cNvPr id="5" name="Subtitle 11">
            <a:extLst>
              <a:ext uri="{FF2B5EF4-FFF2-40B4-BE49-F238E27FC236}">
                <a16:creationId xmlns:a16="http://schemas.microsoft.com/office/drawing/2014/main" id="{2637A202-4F97-4E2F-4012-CE2514ECBC69}"/>
              </a:ext>
            </a:extLst>
          </p:cNvPr>
          <p:cNvSpPr txBox="1"/>
          <p:nvPr/>
        </p:nvSpPr>
        <p:spPr>
          <a:xfrm>
            <a:off x="1651592" y="191317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C. Eswar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234G5A0502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 dirty="0">
                <a:sym typeface="+mn-ea"/>
              </a:rPr>
              <a:t>Title </a:t>
            </a:r>
            <a:r>
              <a:rPr lang="en-US" dirty="0" err="1">
                <a:sym typeface="+mn-ea"/>
              </a:rPr>
              <a:t>Explaination</a:t>
            </a:r>
            <a:endParaRPr lang="en-US" dirty="0"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“A Symptom-Based Multi-Disease Prediction System Using Machine Learning” reflects the system’s core functionality, encompassing: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multiple diseases using patient symptom data.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diseases such as Diabetes, Heart Attack, Tuberculosis, Pneumonia, Jaundice, and Bronchial Asthma using Machine Learning algorithms.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models including Logistic Regression, Support Vector Machine (SVM), Decision Tree, Random Forest,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AdaBoost, and Artificial Neural Networks (ANN).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fast and accurate symptom-based disease prediction, reducing manual diagnosis effort and supporting early medical decision-making.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078095" y="11493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450BED-FB49-9301-BB58-747D1B99E5A0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/>
              <a:t>Contents</a:t>
            </a:r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2280" lvl="0" indent="-46228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Abstract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Introduction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Software Requirements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Datasets/Modules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Implementation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Conclusion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References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8C540-F618-C303-E739-3502A99F8F07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>
                <a:sym typeface="+mn-ea"/>
              </a:rPr>
              <a:t>Abstract</a:t>
            </a:r>
            <a:endParaRPr lang="en-US"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early prediction of diseases using symptom data plays a vital role in supporting timely medical diagnosis and treatment.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focus on predicting a single disease or lack intelligent learning models capable of handling multiple diseases within a unified framework.</a:t>
            </a:r>
          </a:p>
          <a:p>
            <a:pPr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applies machine learning and deep learning techniques including Logistic Regression, Support Vector Machine, Decision Tree, Random Forest,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AdaBoost, and an Artificial Neural Network (ANN) to classify multiple diseases based on patient symptoms.</a:t>
            </a: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shows that both machine learning models and the ANN achieve high classification accuracy, demonstrating effective learning of symptom–disease relationships.</a:t>
            </a:r>
          </a:p>
          <a:p>
            <a:pPr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multi-disease prediction system successfully integrates traditional machine learning models with deep learning, offering a reliable and scalable approach for automated disease diagnosis.</a:t>
            </a: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CE9492-C21C-9C96-E6D1-A83EE41F2D9C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Introduction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Disease diagnosis based on symptoms is often challenging due to overlapping symptoms across different diseases.</a:t>
            </a:r>
          </a:p>
          <a:p>
            <a:r>
              <a:rPr lang="en-US" sz="2400" dirty="0"/>
              <a:t>Manual diagnosis requires experienced medical professionals and can be time-consuming, especially in resource-limited environments.</a:t>
            </a:r>
          </a:p>
          <a:p>
            <a:r>
              <a:rPr lang="en-US" sz="2400" dirty="0"/>
              <a:t>Delayed or incorrect diagnosis may lead to improper treatment and increased health risks.</a:t>
            </a:r>
          </a:p>
          <a:p>
            <a:r>
              <a:rPr lang="en-US" sz="2400" dirty="0"/>
              <a:t>There is a need for an automated system that can analyze patient symptoms and accurately predict multiple diseases.</a:t>
            </a:r>
          </a:p>
          <a:p>
            <a:r>
              <a:rPr lang="en-US" sz="2400" dirty="0"/>
              <a:t>This project addresses this problem by using machine learning and Artificial Neural Network models to predict diseases efficiently and support early medical decision-making.</a:t>
            </a:r>
          </a:p>
          <a:p>
            <a:pPr marL="50800" indent="0">
              <a:buNone/>
            </a:pP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CE15F-14DA-0C0B-1852-A3250BA7133A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Software Requirements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Programming Language:</a:t>
            </a:r>
            <a:r>
              <a:rPr lang="en-IN" dirty="0"/>
              <a:t> Python</a:t>
            </a:r>
          </a:p>
          <a:p>
            <a:r>
              <a:rPr lang="en-IN" b="1" dirty="0"/>
              <a:t>Development Environment: </a:t>
            </a:r>
            <a:r>
              <a:rPr lang="en-IN" dirty="0"/>
              <a:t>Any Python Code Editor</a:t>
            </a:r>
          </a:p>
          <a:p>
            <a:r>
              <a:rPr lang="en-IN" b="1" dirty="0"/>
              <a:t>Operating System:</a:t>
            </a:r>
            <a:r>
              <a:rPr lang="en-IN" dirty="0"/>
              <a:t> Windows / Linux</a:t>
            </a:r>
          </a:p>
          <a:p>
            <a:r>
              <a:rPr lang="en-IN" b="1" dirty="0"/>
              <a:t>Libraries &amp; Frameworks:</a:t>
            </a:r>
            <a:endParaRPr lang="en-IN" dirty="0"/>
          </a:p>
          <a:p>
            <a:pPr lvl="1"/>
            <a:r>
              <a:rPr lang="en-IN" dirty="0"/>
              <a:t>NumPy</a:t>
            </a:r>
          </a:p>
          <a:p>
            <a:pPr lvl="1"/>
            <a:r>
              <a:rPr lang="en-IN" dirty="0"/>
              <a:t>Pandas</a:t>
            </a:r>
          </a:p>
          <a:p>
            <a:pPr lvl="1"/>
            <a:r>
              <a:rPr lang="en-IN" dirty="0"/>
              <a:t>Matplotlib</a:t>
            </a:r>
          </a:p>
          <a:p>
            <a:pPr lvl="1"/>
            <a:r>
              <a:rPr lang="en-IN" dirty="0"/>
              <a:t>Seaborn</a:t>
            </a:r>
          </a:p>
          <a:p>
            <a:pPr lvl="1"/>
            <a:r>
              <a:rPr lang="en-IN" dirty="0"/>
              <a:t>Scikit-learn</a:t>
            </a:r>
          </a:p>
          <a:p>
            <a:pPr lvl="1"/>
            <a:r>
              <a:rPr lang="en-IN" dirty="0" err="1"/>
              <a:t>XGBoost</a:t>
            </a:r>
            <a:r>
              <a:rPr lang="en-IN" dirty="0"/>
              <a:t>, AdaBoost</a:t>
            </a:r>
          </a:p>
          <a:p>
            <a:pPr lvl="1"/>
            <a:r>
              <a:rPr lang="en-IN" dirty="0"/>
              <a:t>TensorFlow / Keras (for ANN)</a:t>
            </a:r>
          </a:p>
          <a:p>
            <a:r>
              <a:rPr lang="en-IN" b="1" dirty="0"/>
              <a:t>Version Control (Optional):</a:t>
            </a:r>
            <a:r>
              <a:rPr lang="en-IN" dirty="0"/>
              <a:t> Git</a:t>
            </a:r>
          </a:p>
          <a:p>
            <a:r>
              <a:rPr lang="en-IN" b="1" dirty="0"/>
              <a:t>Data Handling Tool:</a:t>
            </a:r>
            <a:r>
              <a:rPr lang="en-IN" dirty="0"/>
              <a:t> CSV dataset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BD983-8899-A862-5D83-FAACE61BE0A5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Datasets/Modules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is a symptom-based medical dataset consisting of patient health records.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datasets are used: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Dataset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model training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Dataset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model evaluation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record represents a patient case described using multiple symptoms.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available diseases, six diseases were selected for prediction: Diabetes, Bronchial Asthma, Pneumonia, Jaundice, Tuberculosis, and Heart Attack.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 are encoded in binary format, where: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indicates the presence of a symptom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indicates the absence of a symptom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symptom-related features and a target column named “Prognosis”; it represents the corresponding disease label.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no missing values after preprocessing.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is applied to convert disease names into numerical form for model training.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suitable for supervised multi-class disease prediction.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A74099-8719-49CA-6A63-C5682B683EA8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3B24F-83E6-9677-1CB5-FC6313B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1E26-F4CA-CFD7-51E8-124A12524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Process Flow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BB6EF3-CE79-5CB0-2936-2EDF9CC0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1114102"/>
            <a:ext cx="11755491" cy="4629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9652F3-AE8D-5A9D-9A50-BA9AF2A3F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4" y="1363334"/>
            <a:ext cx="11755491" cy="46297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573B6B-2BC1-BE8B-DE07-787CAC3329E5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83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8E92-A952-DD15-E540-118DE87C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1E8A-11AB-6FDF-953F-FCE28AF0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UML Diagram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3DD9B6-B619-BC28-7A0C-6153535C3D06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5CC0B-5B4F-7786-DECD-A332A813A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93" y="1765594"/>
            <a:ext cx="7324725" cy="3705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01AA62-F181-FA33-CB66-FC6B1BF4D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893" y="1917994"/>
            <a:ext cx="7324725" cy="370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C18B17-CD13-8383-855C-0E254DA875EE}"/>
              </a:ext>
            </a:extLst>
          </p:cNvPr>
          <p:cNvSpPr txBox="1"/>
          <p:nvPr/>
        </p:nvSpPr>
        <p:spPr>
          <a:xfrm>
            <a:off x="566928" y="1325880"/>
            <a:ext cx="3813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C966-0DBB-E019-2543-998AD27B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BEEF-476D-1262-C50A-BB906FA82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UML Diagram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F74DBD-08FF-FCD9-5C71-EFA48EE1A906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FD43D-AF6B-3837-4E4D-81B7FEEE5295}"/>
              </a:ext>
            </a:extLst>
          </p:cNvPr>
          <p:cNvSpPr txBox="1"/>
          <p:nvPr/>
        </p:nvSpPr>
        <p:spPr>
          <a:xfrm>
            <a:off x="566928" y="1325880"/>
            <a:ext cx="3813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8F964C-5C7D-0789-74FB-6EA50CB6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57" y="1725990"/>
            <a:ext cx="10386203" cy="489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8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Implementation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loaded using the Pandas library for easy data manipulation.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files are used for training and testing the models.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step allows structured access to symptom features and disease labels.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disease labels in the prognosis column are categorical in nature.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converts disease names into numerical values.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conversion is required for machine learning and ANN models to process the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6D5B7-284C-A59B-B9BD-55153C881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51" y="1739937"/>
            <a:ext cx="3829584" cy="1038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3B79C9-7F70-120A-26B4-379FE3CB9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751" y="4451985"/>
            <a:ext cx="6001588" cy="10097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00419E-C964-A900-C517-44DB591CAFE6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8CBB5-D42B-49ED-04C9-2A9186C4B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68597-C084-4C74-C76D-1779ADC8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Implementation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3615E-9D42-0DFE-6B0D-2AC6DAFCE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 columns are separated as input features, and encoded disease labels are used as targets.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split into training and testing sets.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evaluating the model’s performance on unseen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Training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Random Forest algorithm is used to train the model on symptom data.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builds multiple decision trees to improve prediction accuracy.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model helps in learning complex symptom–disease relationships.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CD2D0-87D7-801C-E622-4F6D50D8B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51" y="1661037"/>
            <a:ext cx="7068536" cy="1173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98E2F6-81CD-4969-64E3-6D8B4CE13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751" y="4231760"/>
            <a:ext cx="5029902" cy="11734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40801C-F30E-F0D9-B8CE-EA02447B3F42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56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Outputs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E7176D-FB69-2F1A-E922-F7D37ED0632D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EED725D-B71C-09EC-BEA8-5114CD45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3" y="1275205"/>
            <a:ext cx="10800272" cy="50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992D4-27AE-2253-0900-D98141F8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D670-DD38-94B8-3E79-747E08DF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Outputs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11C1F-2FB5-696C-4563-30DB774C6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41A1A-67D0-821C-EDFC-C9C56E91DFDE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ECCCBAE0-34F7-DDAF-AF0D-8F2D94CB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8" y="1268082"/>
            <a:ext cx="10817524" cy="5055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2559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802F3-E411-1C71-BD8B-58D51856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9C34-F5E0-4269-D836-030DC689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Outputs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24A19-08F3-F8DB-1A31-A4E25BF7F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08DCE-690A-0C00-5304-D2FEAEDE7E87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1947F-6FD1-C663-610D-F173AACDF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74" y="1311214"/>
            <a:ext cx="10929668" cy="489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16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70179-65ED-CF6F-15F5-391EF87E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0746-B5D1-46AE-F5AC-BA7BE5F9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Outputs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03526-B512-DD1E-9BF8-C28551987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E1363-9D7D-A8BB-565B-7FFE80FF58DF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5575A85A-7005-3DD0-A7BB-24729450A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6" y="1311215"/>
            <a:ext cx="10946921" cy="4925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352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652D-6DE6-9026-EC41-04B4BD1A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D73A-3E29-7902-6229-96116F0EF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Outputs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3B07D-7C07-A409-45D4-42F03220F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AD543-FE63-FFCB-8159-F643FE2DF12E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A534F4-AAEF-2517-2F26-9FBD4FD92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91774"/>
            <a:ext cx="10834007" cy="499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17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Conclusion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The project developed an AI/ML-based system for predicting multiple diseases using symptom data.</a:t>
            </a:r>
          </a:p>
          <a:p>
            <a:r>
              <a:rPr lang="en-US" sz="2200" dirty="0"/>
              <a:t>Various machine learning algorithms were implemented to achieve accurate and efficient disease prediction.</a:t>
            </a:r>
          </a:p>
          <a:p>
            <a:r>
              <a:rPr lang="en-US" sz="2200" dirty="0"/>
              <a:t>The system enables fast and automated diagnosis, reducing dependency on manual analysis.</a:t>
            </a:r>
          </a:p>
          <a:p>
            <a:r>
              <a:rPr lang="en-US" sz="2200" dirty="0"/>
              <a:t>It provides a cost-effective solution for early detection and supports better medical decision-making.</a:t>
            </a:r>
          </a:p>
          <a:p>
            <a:r>
              <a:rPr lang="en-US" sz="2200" dirty="0"/>
              <a:t>The project demonstrates the effectiveness of AI/ML in improving healthcare prediction systems.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1939B-768D-87EF-1DCE-9AB9D97B0DDD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References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5000"/>
          </a:bodyPr>
          <a:lstStyle/>
          <a:p>
            <a:r>
              <a:rPr lang="en-IN" sz="2200" dirty="0"/>
              <a:t>[1] H. Liang, B. Y. Tsui, H. Ni, et al., “Evaluation and Accurate Diagnoses of </a:t>
            </a:r>
            <a:r>
              <a:rPr lang="en-IN" sz="2200" dirty="0" err="1"/>
              <a:t>Pediatric</a:t>
            </a:r>
            <a:r>
              <a:rPr lang="en-IN" sz="2200" dirty="0"/>
              <a:t> Diseases Using Artificial Intelligence,” </a:t>
            </a:r>
            <a:r>
              <a:rPr lang="en-IN" sz="2200" i="1" dirty="0"/>
              <a:t>Journal of Medical Systems</a:t>
            </a:r>
            <a:r>
              <a:rPr lang="en-IN" sz="2200" dirty="0"/>
              <a:t>, vol. 43, no. 5, pp. 1–12, 2019.</a:t>
            </a:r>
          </a:p>
          <a:p>
            <a:r>
              <a:rPr lang="en-IN" sz="2200" dirty="0"/>
              <a:t>[2] M. J. Shaikh, S. Manjrekar, D. Khan, M. Khan, and D. Jamadar, “Multiple Disease Prediction Webapp,” </a:t>
            </a:r>
            <a:r>
              <a:rPr lang="en-IN" sz="2200" i="1" dirty="0"/>
              <a:t>Journal of Emerging Technologies and Innovative Research (JETIR)</a:t>
            </a:r>
            <a:r>
              <a:rPr lang="en-IN" sz="2200" dirty="0"/>
              <a:t>, vol. 8, no. 6, pp. 1–6, 2021.</a:t>
            </a:r>
          </a:p>
          <a:p>
            <a:r>
              <a:rPr lang="en-IN" sz="2200" dirty="0"/>
              <a:t>[3] R. C. Deo, “Machine Learning in Medicine,” </a:t>
            </a:r>
            <a:r>
              <a:rPr lang="en-IN" sz="2200" i="1" dirty="0"/>
              <a:t>Circulation</a:t>
            </a:r>
            <a:r>
              <a:rPr lang="en-IN" sz="2200" dirty="0"/>
              <a:t>, vol. 132, no. 20, pp. 1920–1930, 2015.</a:t>
            </a:r>
          </a:p>
          <a:p>
            <a:r>
              <a:rPr lang="en-IN" sz="2200" dirty="0"/>
              <a:t>[4] “Multiple Disease Prediction System Using Machine Learning,” </a:t>
            </a:r>
            <a:r>
              <a:rPr lang="en-IN" sz="2200" i="1" dirty="0"/>
              <a:t>SSRN Electronic Journal</a:t>
            </a:r>
            <a:r>
              <a:rPr lang="en-IN" sz="2200" dirty="0"/>
              <a:t>, pp. 1–8, 2020.</a:t>
            </a:r>
          </a:p>
          <a:p>
            <a:r>
              <a:rPr lang="en-IN" sz="2200" dirty="0"/>
              <a:t>[5] U. R. Acharya, H. Fujita, S. L. Oh, et al., “Application of Deep Convolutional Neural Network for Automated Detection of Myocardial Infarction Using ECG Signals,” </a:t>
            </a:r>
            <a:r>
              <a:rPr lang="en-IN" sz="2200" i="1" dirty="0"/>
              <a:t>Information Sciences</a:t>
            </a:r>
            <a:r>
              <a:rPr lang="en-IN" sz="2200" dirty="0"/>
              <a:t>, vol. 415–416, pp. 190–198, 2017.</a:t>
            </a:r>
          </a:p>
          <a:p>
            <a:r>
              <a:rPr lang="en-IN" sz="2200" dirty="0"/>
              <a:t>[6] “Multiple Disease Prediction System Using Machine Learning and </a:t>
            </a:r>
            <a:r>
              <a:rPr lang="en-IN" sz="2200" dirty="0" err="1"/>
              <a:t>Streamlit</a:t>
            </a:r>
            <a:r>
              <a:rPr lang="en-IN" sz="2200" dirty="0"/>
              <a:t>,” </a:t>
            </a:r>
            <a:r>
              <a:rPr lang="en-IN" sz="2200" i="1" dirty="0"/>
              <a:t>IEEE Xplore</a:t>
            </a:r>
            <a:r>
              <a:rPr lang="en-IN" sz="2200" dirty="0"/>
              <a:t>, pp. 1–6, 2022.</a:t>
            </a:r>
          </a:p>
          <a:p>
            <a:pPr marL="50800" indent="0">
              <a:buNone/>
            </a:pPr>
            <a:endParaRPr lang="en-US" alt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7FCA2B-2193-0A95-7939-E74A3B5CAE4E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0" y="2308860"/>
            <a:ext cx="12192635" cy="2952750"/>
          </a:xfrm>
        </p:spPr>
        <p:txBody>
          <a:bodyPr/>
          <a:lstStyle/>
          <a:p>
            <a:pPr marL="50800" indent="0" algn="ctr">
              <a:buNone/>
            </a:pPr>
            <a:r>
              <a:rPr lang="en-US" sz="12800" i="1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67959F-4BAA-E4EC-822C-52536903D109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0" y="2308860"/>
            <a:ext cx="12192635" cy="2952750"/>
          </a:xfrm>
        </p:spPr>
        <p:txBody>
          <a:bodyPr/>
          <a:lstStyle/>
          <a:p>
            <a:pPr marL="50800" indent="0" algn="ctr">
              <a:buNone/>
            </a:pPr>
            <a:r>
              <a:rPr lang="en-US" sz="12800" i="1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</a:rPr>
              <a:t>Any Queries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68E33-97A7-1210-8792-EA10D595D911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Multi-Disease Prediction System Using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1293</Words>
  <Application>Microsoft Office PowerPoint</Application>
  <PresentationFormat>Widescreen</PresentationFormat>
  <Paragraphs>161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Noto Sans Symbols</vt:lpstr>
      <vt:lpstr>Times New Roman</vt:lpstr>
      <vt:lpstr>Verdana</vt:lpstr>
      <vt:lpstr>Wingdings</vt:lpstr>
      <vt:lpstr>Custom Design</vt:lpstr>
      <vt:lpstr>PowerPoint Presentation</vt:lpstr>
      <vt:lpstr>Title Explaination</vt:lpstr>
      <vt:lpstr>Contents</vt:lpstr>
      <vt:lpstr>Abstract</vt:lpstr>
      <vt:lpstr>Introduction</vt:lpstr>
      <vt:lpstr>Software Requirements</vt:lpstr>
      <vt:lpstr>Datasets/Modules</vt:lpstr>
      <vt:lpstr>Process Flow</vt:lpstr>
      <vt:lpstr>UML Diagram</vt:lpstr>
      <vt:lpstr>UML Diagram</vt:lpstr>
      <vt:lpstr>Implementation</vt:lpstr>
      <vt:lpstr>Implementation</vt:lpstr>
      <vt:lpstr>Outputs</vt:lpstr>
      <vt:lpstr>Outputs</vt:lpstr>
      <vt:lpstr>Outputs</vt:lpstr>
      <vt:lpstr>Outputs</vt:lpstr>
      <vt:lpstr>Outputs</vt:lpstr>
      <vt:lpstr>Conclusion</vt:lpstr>
      <vt:lpstr>References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❤️ L</dc:creator>
  <cp:lastModifiedBy>Mahi Yadav</cp:lastModifiedBy>
  <cp:revision>18</cp:revision>
  <dcterms:created xsi:type="dcterms:W3CDTF">2025-03-06T07:29:00Z</dcterms:created>
  <dcterms:modified xsi:type="dcterms:W3CDTF">2026-03-11T17:39:45Z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8A58E4632DEF4CE798132557BA146826_13</vt:lpwstr>
  </property>
  <property fmtid="{D5CDD505-2E9C-101B-9397-08002B2CF9AE}" pid="3" name="KSOProductBuildVer">
    <vt:lpwstr>1033-12.2.0.23196</vt:lpwstr>
  </property>
</Properties>
</file>