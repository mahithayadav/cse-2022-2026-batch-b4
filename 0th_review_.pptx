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14"/>
  </p:notesMasterIdLst>
  <p:sldIdLst>
    <p:sldId id="267" r:id="rId3"/>
    <p:sldId id="257" r:id="rId4"/>
    <p:sldId id="278" r:id="rId5"/>
    <p:sldId id="258" r:id="rId6"/>
    <p:sldId id="259" r:id="rId7"/>
    <p:sldId id="282" r:id="rId8"/>
    <p:sldId id="261" r:id="rId9"/>
    <p:sldId id="264" r:id="rId10"/>
    <p:sldId id="283" r:id="rId11"/>
    <p:sldId id="265" r:id="rId12"/>
    <p:sldId id="266" r:id="rId13"/>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5AF248-D385-4893-8B4B-75D81AE11368}" v="25" dt="2026-03-09T18:28:12.3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2827" autoAdjust="0"/>
  </p:normalViewPr>
  <p:slideViewPr>
    <p:cSldViewPr showGuides="1">
      <p:cViewPr varScale="1">
        <p:scale>
          <a:sx n="82" d="100"/>
          <a:sy n="82" d="100"/>
        </p:scale>
        <p:origin x="691" y="72"/>
      </p:cViewPr>
      <p:guideLst>
        <p:guide orient="horz" pos="2160"/>
        <p:guide pos="383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 Yadav" userId="bb953e4139f4bad6" providerId="LiveId" clId="{D5683BEA-6642-46EE-BB87-C5F71723A66D}"/>
    <pc:docChg chg="undo custSel addSld delSld modSld">
      <pc:chgData name="Mahi Yadav" userId="bb953e4139f4bad6" providerId="LiveId" clId="{D5683BEA-6642-46EE-BB87-C5F71723A66D}" dt="2026-03-10T17:00:08.257" v="100" actId="2711"/>
      <pc:docMkLst>
        <pc:docMk/>
      </pc:docMkLst>
      <pc:sldChg chg="delSp modSp del mod">
        <pc:chgData name="Mahi Yadav" userId="bb953e4139f4bad6" providerId="LiveId" clId="{D5683BEA-6642-46EE-BB87-C5F71723A66D}" dt="2026-03-09T18:22:54.484" v="15" actId="47"/>
        <pc:sldMkLst>
          <pc:docMk/>
          <pc:sldMk cId="0" sldId="256"/>
        </pc:sldMkLst>
        <pc:spChg chg="del">
          <ac:chgData name="Mahi Yadav" userId="bb953e4139f4bad6" providerId="LiveId" clId="{D5683BEA-6642-46EE-BB87-C5F71723A66D}" dt="2026-03-09T18:22:36.512" v="11" actId="478"/>
          <ac:spMkLst>
            <pc:docMk/>
            <pc:sldMk cId="0" sldId="256"/>
            <ac:spMk id="3" creationId="{00000000-0000-0000-0000-000000000000}"/>
          </ac:spMkLst>
        </pc:spChg>
        <pc:spChg chg="mod">
          <ac:chgData name="Mahi Yadav" userId="bb953e4139f4bad6" providerId="LiveId" clId="{D5683BEA-6642-46EE-BB87-C5F71723A66D}" dt="2026-03-09T18:22:43.604" v="13" actId="6549"/>
          <ac:spMkLst>
            <pc:docMk/>
            <pc:sldMk cId="0" sldId="256"/>
            <ac:spMk id="5" creationId="{00000000-0000-0000-0000-000000000000}"/>
          </ac:spMkLst>
        </pc:spChg>
        <pc:spChg chg="mod">
          <ac:chgData name="Mahi Yadav" userId="bb953e4139f4bad6" providerId="LiveId" clId="{D5683BEA-6642-46EE-BB87-C5F71723A66D}" dt="2026-03-09T18:22:40.909" v="12" actId="6549"/>
          <ac:spMkLst>
            <pc:docMk/>
            <pc:sldMk cId="0" sldId="256"/>
            <ac:spMk id="6" creationId="{00000000-0000-0000-0000-000000000000}"/>
          </ac:spMkLst>
        </pc:spChg>
      </pc:sldChg>
      <pc:sldChg chg="modSp">
        <pc:chgData name="Mahi Yadav" userId="bb953e4139f4bad6" providerId="LiveId" clId="{D5683BEA-6642-46EE-BB87-C5F71723A66D}" dt="2026-03-09T18:27:21.937" v="85"/>
        <pc:sldMkLst>
          <pc:docMk/>
          <pc:sldMk cId="0" sldId="257"/>
        </pc:sldMkLst>
        <pc:spChg chg="mod">
          <ac:chgData name="Mahi Yadav" userId="bb953e4139f4bad6" providerId="LiveId" clId="{D5683BEA-6642-46EE-BB87-C5F71723A66D}" dt="2026-03-09T18:27:21.937" v="85"/>
          <ac:spMkLst>
            <pc:docMk/>
            <pc:sldMk cId="0" sldId="257"/>
            <ac:spMk id="2" creationId="{67980CE8-0DF4-ADFB-351E-3165106C569D}"/>
          </ac:spMkLst>
        </pc:spChg>
      </pc:sldChg>
      <pc:sldChg chg="modSp mod">
        <pc:chgData name="Mahi Yadav" userId="bb953e4139f4bad6" providerId="LiveId" clId="{D5683BEA-6642-46EE-BB87-C5F71723A66D}" dt="2026-03-09T18:27:31.431" v="87"/>
        <pc:sldMkLst>
          <pc:docMk/>
          <pc:sldMk cId="0" sldId="258"/>
        </pc:sldMkLst>
        <pc:spChg chg="mod">
          <ac:chgData name="Mahi Yadav" userId="bb953e4139f4bad6" providerId="LiveId" clId="{D5683BEA-6642-46EE-BB87-C5F71723A66D}" dt="2026-03-09T18:27:31.431" v="87"/>
          <ac:spMkLst>
            <pc:docMk/>
            <pc:sldMk cId="0" sldId="258"/>
            <ac:spMk id="2" creationId="{842131AC-2AD6-5936-84B7-F8F0BBCD8F4C}"/>
          </ac:spMkLst>
        </pc:spChg>
        <pc:spChg chg="mod">
          <ac:chgData name="Mahi Yadav" userId="bb953e4139f4bad6" providerId="LiveId" clId="{D5683BEA-6642-46EE-BB87-C5F71723A66D}" dt="2026-03-09T17:08:05.496" v="10"/>
          <ac:spMkLst>
            <pc:docMk/>
            <pc:sldMk cId="0" sldId="258"/>
            <ac:spMk id="100" creationId="{00000000-0000-0000-0000-000000000000}"/>
          </ac:spMkLst>
        </pc:spChg>
      </pc:sldChg>
      <pc:sldChg chg="modSp mod">
        <pc:chgData name="Mahi Yadav" userId="bb953e4139f4bad6" providerId="LiveId" clId="{D5683BEA-6642-46EE-BB87-C5F71723A66D}" dt="2026-03-09T18:27:37.818" v="88"/>
        <pc:sldMkLst>
          <pc:docMk/>
          <pc:sldMk cId="0" sldId="259"/>
        </pc:sldMkLst>
        <pc:spChg chg="mod">
          <ac:chgData name="Mahi Yadav" userId="bb953e4139f4bad6" providerId="LiveId" clId="{D5683BEA-6642-46EE-BB87-C5F71723A66D}" dt="2026-03-09T18:27:37.818" v="88"/>
          <ac:spMkLst>
            <pc:docMk/>
            <pc:sldMk cId="0" sldId="259"/>
            <ac:spMk id="3" creationId="{314A3FF4-7ABB-1958-F732-CF74213E9C2F}"/>
          </ac:spMkLst>
        </pc:spChg>
        <pc:spChg chg="mod">
          <ac:chgData name="Mahi Yadav" userId="bb953e4139f4bad6" providerId="LiveId" clId="{D5683BEA-6642-46EE-BB87-C5F71723A66D}" dt="2026-03-09T18:27:04.508" v="84" actId="113"/>
          <ac:spMkLst>
            <pc:docMk/>
            <pc:sldMk cId="0" sldId="259"/>
            <ac:spMk id="102" creationId="{00000000-0000-0000-0000-000000000000}"/>
          </ac:spMkLst>
        </pc:spChg>
      </pc:sldChg>
      <pc:sldChg chg="modSp mod">
        <pc:chgData name="Mahi Yadav" userId="bb953e4139f4bad6" providerId="LiveId" clId="{D5683BEA-6642-46EE-BB87-C5F71723A66D}" dt="2026-03-10T17:00:08.257" v="100" actId="2711"/>
        <pc:sldMkLst>
          <pc:docMk/>
          <pc:sldMk cId="0" sldId="261"/>
        </pc:sldMkLst>
        <pc:spChg chg="mod">
          <ac:chgData name="Mahi Yadav" userId="bb953e4139f4bad6" providerId="LiveId" clId="{D5683BEA-6642-46EE-BB87-C5F71723A66D}" dt="2026-03-09T18:27:47.785" v="90"/>
          <ac:spMkLst>
            <pc:docMk/>
            <pc:sldMk cId="0" sldId="261"/>
            <ac:spMk id="29" creationId="{A910122D-E8DF-C382-3170-D47B5768E9B5}"/>
          </ac:spMkLst>
        </pc:spChg>
        <pc:graphicFrameChg chg="modGraphic">
          <ac:chgData name="Mahi Yadav" userId="bb953e4139f4bad6" providerId="LiveId" clId="{D5683BEA-6642-46EE-BB87-C5F71723A66D}" dt="2026-03-10T17:00:08.257" v="100" actId="2711"/>
          <ac:graphicFrameMkLst>
            <pc:docMk/>
            <pc:sldMk cId="0" sldId="261"/>
            <ac:graphicFrameMk id="10" creationId="{5447383F-CA2B-513A-652B-ED122A7515D2}"/>
          </ac:graphicFrameMkLst>
        </pc:graphicFrameChg>
      </pc:sldChg>
      <pc:sldChg chg="modSp mod">
        <pc:chgData name="Mahi Yadav" userId="bb953e4139f4bad6" providerId="LiveId" clId="{D5683BEA-6642-46EE-BB87-C5F71723A66D}" dt="2026-03-09T18:27:51.488" v="91"/>
        <pc:sldMkLst>
          <pc:docMk/>
          <pc:sldMk cId="0" sldId="264"/>
        </pc:sldMkLst>
        <pc:spChg chg="mod">
          <ac:chgData name="Mahi Yadav" userId="bb953e4139f4bad6" providerId="LiveId" clId="{D5683BEA-6642-46EE-BB87-C5F71723A66D}" dt="2026-03-09T18:27:51.488" v="91"/>
          <ac:spMkLst>
            <pc:docMk/>
            <pc:sldMk cId="0" sldId="264"/>
            <ac:spMk id="2" creationId="{C9CD97ED-64A4-B702-9821-E37911EAA63F}"/>
          </ac:spMkLst>
        </pc:spChg>
        <pc:spChg chg="mod">
          <ac:chgData name="Mahi Yadav" userId="bb953e4139f4bad6" providerId="LiveId" clId="{D5683BEA-6642-46EE-BB87-C5F71723A66D}" dt="2026-03-09T18:23:03.208" v="40" actId="20577"/>
          <ac:spMkLst>
            <pc:docMk/>
            <pc:sldMk cId="0" sldId="264"/>
            <ac:spMk id="111" creationId="{00000000-0000-0000-0000-000000000000}"/>
          </ac:spMkLst>
        </pc:spChg>
        <pc:spChg chg="mod">
          <ac:chgData name="Mahi Yadav" userId="bb953e4139f4bad6" providerId="LiveId" clId="{D5683BEA-6642-46EE-BB87-C5F71723A66D}" dt="2026-03-09T18:24:25.932" v="59" actId="255"/>
          <ac:spMkLst>
            <pc:docMk/>
            <pc:sldMk cId="0" sldId="264"/>
            <ac:spMk id="112" creationId="{00000000-0000-0000-0000-000000000000}"/>
          </ac:spMkLst>
        </pc:spChg>
      </pc:sldChg>
      <pc:sldChg chg="modSp">
        <pc:chgData name="Mahi Yadav" userId="bb953e4139f4bad6" providerId="LiveId" clId="{D5683BEA-6642-46EE-BB87-C5F71723A66D}" dt="2026-03-09T18:27:59.743" v="93"/>
        <pc:sldMkLst>
          <pc:docMk/>
          <pc:sldMk cId="0" sldId="265"/>
        </pc:sldMkLst>
        <pc:spChg chg="mod">
          <ac:chgData name="Mahi Yadav" userId="bb953e4139f4bad6" providerId="LiveId" clId="{D5683BEA-6642-46EE-BB87-C5F71723A66D}" dt="2026-03-09T18:27:59.743" v="93"/>
          <ac:spMkLst>
            <pc:docMk/>
            <pc:sldMk cId="0" sldId="265"/>
            <ac:spMk id="5" creationId="{92F5065B-67C9-1ED4-C45B-56D0E82EAB2F}"/>
          </ac:spMkLst>
        </pc:spChg>
      </pc:sldChg>
      <pc:sldChg chg="modSp">
        <pc:chgData name="Mahi Yadav" userId="bb953e4139f4bad6" providerId="LiveId" clId="{D5683BEA-6642-46EE-BB87-C5F71723A66D}" dt="2026-03-09T18:28:05.147" v="94"/>
        <pc:sldMkLst>
          <pc:docMk/>
          <pc:sldMk cId="0" sldId="266"/>
        </pc:sldMkLst>
        <pc:spChg chg="mod">
          <ac:chgData name="Mahi Yadav" userId="bb953e4139f4bad6" providerId="LiveId" clId="{D5683BEA-6642-46EE-BB87-C5F71723A66D}" dt="2026-03-09T18:28:05.147" v="94"/>
          <ac:spMkLst>
            <pc:docMk/>
            <pc:sldMk cId="0" sldId="266"/>
            <ac:spMk id="2" creationId="{8F4AD1D1-4E1B-86FD-6137-E5470B1A46CD}"/>
          </ac:spMkLst>
        </pc:spChg>
      </pc:sldChg>
      <pc:sldChg chg="modSp mod">
        <pc:chgData name="Mahi Yadav" userId="bb953e4139f4bad6" providerId="LiveId" clId="{D5683BEA-6642-46EE-BB87-C5F71723A66D}" dt="2026-03-09T18:29:09.406" v="99" actId="1076"/>
        <pc:sldMkLst>
          <pc:docMk/>
          <pc:sldMk cId="0" sldId="267"/>
        </pc:sldMkLst>
        <pc:spChg chg="mod">
          <ac:chgData name="Mahi Yadav" userId="bb953e4139f4bad6" providerId="LiveId" clId="{D5683BEA-6642-46EE-BB87-C5F71723A66D}" dt="2026-03-09T18:28:53.880" v="98" actId="255"/>
          <ac:spMkLst>
            <pc:docMk/>
            <pc:sldMk cId="0" sldId="267"/>
            <ac:spMk id="2" creationId="{B14EA438-6317-B4FF-FE76-FB53A9F6DEA7}"/>
          </ac:spMkLst>
        </pc:spChg>
        <pc:spChg chg="mod">
          <ac:chgData name="Mahi Yadav" userId="bb953e4139f4bad6" providerId="LiveId" clId="{D5683BEA-6642-46EE-BB87-C5F71723A66D}" dt="2026-03-09T18:29:09.406" v="99" actId="1076"/>
          <ac:spMkLst>
            <pc:docMk/>
            <pc:sldMk cId="0" sldId="267"/>
            <ac:spMk id="12" creationId="{00000000-0000-0000-0000-000000000000}"/>
          </ac:spMkLst>
        </pc:spChg>
      </pc:sldChg>
      <pc:sldChg chg="modSp mod">
        <pc:chgData name="Mahi Yadav" userId="bb953e4139f4bad6" providerId="LiveId" clId="{D5683BEA-6642-46EE-BB87-C5F71723A66D}" dt="2026-03-09T18:27:27.482" v="86"/>
        <pc:sldMkLst>
          <pc:docMk/>
          <pc:sldMk cId="0" sldId="278"/>
        </pc:sldMkLst>
        <pc:spChg chg="mod">
          <ac:chgData name="Mahi Yadav" userId="bb953e4139f4bad6" providerId="LiveId" clId="{D5683BEA-6642-46EE-BB87-C5F71723A66D}" dt="2026-03-09T18:27:27.482" v="86"/>
          <ac:spMkLst>
            <pc:docMk/>
            <pc:sldMk cId="0" sldId="278"/>
            <ac:spMk id="2" creationId="{D904196C-D280-79FA-5366-CDF433801D5E}"/>
          </ac:spMkLst>
        </pc:spChg>
        <pc:spChg chg="mod">
          <ac:chgData name="Mahi Yadav" userId="bb953e4139f4bad6" providerId="LiveId" clId="{D5683BEA-6642-46EE-BB87-C5F71723A66D}" dt="2026-03-09T17:07:52.358" v="8" actId="12"/>
          <ac:spMkLst>
            <pc:docMk/>
            <pc:sldMk cId="0" sldId="278"/>
            <ac:spMk id="98" creationId="{00000000-0000-0000-0000-000000000000}"/>
          </ac:spMkLst>
        </pc:spChg>
      </pc:sldChg>
      <pc:sldChg chg="modSp mod">
        <pc:chgData name="Mahi Yadav" userId="bb953e4139f4bad6" providerId="LiveId" clId="{D5683BEA-6642-46EE-BB87-C5F71723A66D}" dt="2026-03-09T18:27:42.176" v="89"/>
        <pc:sldMkLst>
          <pc:docMk/>
          <pc:sldMk cId="0" sldId="282"/>
        </pc:sldMkLst>
        <pc:spChg chg="mod">
          <ac:chgData name="Mahi Yadav" userId="bb953e4139f4bad6" providerId="LiveId" clId="{D5683BEA-6642-46EE-BB87-C5F71723A66D}" dt="2026-03-09T18:25:07.462" v="61" actId="2711"/>
          <ac:spMkLst>
            <pc:docMk/>
            <pc:sldMk cId="0" sldId="282"/>
            <ac:spMk id="6" creationId="{00000000-0000-0000-0000-000000000000}"/>
          </ac:spMkLst>
        </pc:spChg>
        <pc:spChg chg="mod">
          <ac:chgData name="Mahi Yadav" userId="bb953e4139f4bad6" providerId="LiveId" clId="{D5683BEA-6642-46EE-BB87-C5F71723A66D}" dt="2026-03-09T18:25:27.195" v="63" actId="2711"/>
          <ac:spMkLst>
            <pc:docMk/>
            <pc:sldMk cId="0" sldId="282"/>
            <ac:spMk id="10" creationId="{00000000-0000-0000-0000-000000000000}"/>
          </ac:spMkLst>
        </pc:spChg>
        <pc:spChg chg="mod">
          <ac:chgData name="Mahi Yadav" userId="bb953e4139f4bad6" providerId="LiveId" clId="{D5683BEA-6642-46EE-BB87-C5F71723A66D}" dt="2026-03-09T18:25:43.313" v="76" actId="20577"/>
          <ac:spMkLst>
            <pc:docMk/>
            <pc:sldMk cId="0" sldId="282"/>
            <ac:spMk id="11" creationId="{40968FFF-C28F-D76B-1EAD-379BB62F0A61}"/>
          </ac:spMkLst>
        </pc:spChg>
        <pc:spChg chg="mod">
          <ac:chgData name="Mahi Yadav" userId="bb953e4139f4bad6" providerId="LiveId" clId="{D5683BEA-6642-46EE-BB87-C5F71723A66D}" dt="2026-03-09T18:27:42.176" v="89"/>
          <ac:spMkLst>
            <pc:docMk/>
            <pc:sldMk cId="0" sldId="282"/>
            <ac:spMk id="13" creationId="{2E70EE65-790A-482D-B1C9-001564142F29}"/>
          </ac:spMkLst>
        </pc:spChg>
      </pc:sldChg>
      <pc:sldChg chg="modSp add">
        <pc:chgData name="Mahi Yadav" userId="bb953e4139f4bad6" providerId="LiveId" clId="{D5683BEA-6642-46EE-BB87-C5F71723A66D}" dt="2026-03-09T18:27:56.259" v="92"/>
        <pc:sldMkLst>
          <pc:docMk/>
          <pc:sldMk cId="2844597198" sldId="283"/>
        </pc:sldMkLst>
        <pc:spChg chg="mod">
          <ac:chgData name="Mahi Yadav" userId="bb953e4139f4bad6" providerId="LiveId" clId="{D5683BEA-6642-46EE-BB87-C5F71723A66D}" dt="2026-03-09T18:27:56.259" v="92"/>
          <ac:spMkLst>
            <pc:docMk/>
            <pc:sldMk cId="2844597198" sldId="283"/>
            <ac:spMk id="2" creationId="{EB8455C6-9D91-E58D-861F-F13904D8A63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92414672-7F74-4670-9356-5FF07953FE6B}" type="datetimeFigureOut">
              <a:rPr lang="en-US" smtClean="0"/>
              <a:t>3/10/2026</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28FC78BE-84F6-4F5F-974A-47A573FE285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FC78BE-84F6-4F5F-974A-47A573FE2857}"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FC78BE-84F6-4F5F-974A-47A573FE2857}"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8FC78BE-84F6-4F5F-974A-47A573FE2857}" type="slidenum">
              <a:rPr lang="en-US" smtClean="0"/>
              <a:t>4</a:t>
            </a:fld>
            <a:endParaRPr lang="en-US"/>
          </a:p>
        </p:txBody>
      </p:sp>
    </p:spTree>
    <p:extLst>
      <p:ext uri="{BB962C8B-B14F-4D97-AF65-F5344CB8AC3E}">
        <p14:creationId xmlns:p14="http://schemas.microsoft.com/office/powerpoint/2010/main" val="1841101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8FC78BE-84F6-4F5F-974A-47A573FE2857}" type="slidenum">
              <a:rPr lang="en-US" smtClean="0"/>
              <a:t>7</a:t>
            </a:fld>
            <a:endParaRPr lang="en-US"/>
          </a:p>
        </p:txBody>
      </p:sp>
    </p:spTree>
    <p:extLst>
      <p:ext uri="{BB962C8B-B14F-4D97-AF65-F5344CB8AC3E}">
        <p14:creationId xmlns:p14="http://schemas.microsoft.com/office/powerpoint/2010/main" val="4114468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8" name="PlaceHolder 2"/>
          <p:cNvSpPr>
            <a:spLocks noGrp="1"/>
          </p:cNvSpPr>
          <p:nvPr>
            <p:ph type="subTitle"/>
          </p:nvPr>
        </p:nvSpPr>
        <p:spPr>
          <a:xfrm>
            <a:off x="199440" y="1097280"/>
            <a:ext cx="11778840" cy="53946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0" name="PlaceHolder 2"/>
          <p:cNvSpPr>
            <a:spLocks noGrp="1"/>
          </p:cNvSpPr>
          <p:nvPr>
            <p:ph/>
          </p:nvPr>
        </p:nvSpPr>
        <p:spPr>
          <a:xfrm>
            <a:off x="199440" y="1097280"/>
            <a:ext cx="1177884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2"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3"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0" y="232920"/>
            <a:ext cx="12191760" cy="33138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7"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8"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9"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1"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2"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3" name="PlaceHolder 4"/>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5"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6"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7" name="PlaceHolder 4"/>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9" name="PlaceHolder 2"/>
          <p:cNvSpPr>
            <a:spLocks noGrp="1"/>
          </p:cNvSpPr>
          <p:nvPr>
            <p:ph/>
          </p:nvPr>
        </p:nvSpPr>
        <p:spPr>
          <a:xfrm>
            <a:off x="199440" y="109728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0" name="PlaceHolder 3"/>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32"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3"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4"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5" name="PlaceHolder 5"/>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37" name="PlaceHolder 2"/>
          <p:cNvSpPr>
            <a:spLocks noGrp="1"/>
          </p:cNvSpPr>
          <p:nvPr>
            <p:ph/>
          </p:nvPr>
        </p:nvSpPr>
        <p:spPr>
          <a:xfrm>
            <a:off x="19944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8" name="PlaceHolder 3"/>
          <p:cNvSpPr>
            <a:spLocks noGrp="1"/>
          </p:cNvSpPr>
          <p:nvPr>
            <p:ph/>
          </p:nvPr>
        </p:nvSpPr>
        <p:spPr>
          <a:xfrm>
            <a:off x="418212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9" name="PlaceHolder 4"/>
          <p:cNvSpPr>
            <a:spLocks noGrp="1"/>
          </p:cNvSpPr>
          <p:nvPr>
            <p:ph/>
          </p:nvPr>
        </p:nvSpPr>
        <p:spPr>
          <a:xfrm>
            <a:off x="816480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0" name="PlaceHolder 5"/>
          <p:cNvSpPr>
            <a:spLocks noGrp="1"/>
          </p:cNvSpPr>
          <p:nvPr>
            <p:ph/>
          </p:nvPr>
        </p:nvSpPr>
        <p:spPr>
          <a:xfrm>
            <a:off x="19944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1" name="PlaceHolder 6"/>
          <p:cNvSpPr>
            <a:spLocks noGrp="1"/>
          </p:cNvSpPr>
          <p:nvPr>
            <p:ph/>
          </p:nvPr>
        </p:nvSpPr>
        <p:spPr>
          <a:xfrm>
            <a:off x="418212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2" name="PlaceHolder 7"/>
          <p:cNvSpPr>
            <a:spLocks noGrp="1"/>
          </p:cNvSpPr>
          <p:nvPr>
            <p:ph/>
          </p:nvPr>
        </p:nvSpPr>
        <p:spPr>
          <a:xfrm>
            <a:off x="816480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dirty="0">
              <a:solidFill>
                <a:srgbClr val="000000"/>
              </a:solidFill>
              <a:latin typeface="Calibri" panose="020F0502020204030204"/>
            </a:endParaRPr>
          </a:p>
        </p:txBody>
      </p:sp>
      <p:sp>
        <p:nvSpPr>
          <p:cNvPr id="52" name="PlaceHolder 2"/>
          <p:cNvSpPr>
            <a:spLocks noGrp="1"/>
          </p:cNvSpPr>
          <p:nvPr>
            <p:ph type="subTitle"/>
          </p:nvPr>
        </p:nvSpPr>
        <p:spPr>
          <a:xfrm>
            <a:off x="199440" y="1097280"/>
            <a:ext cx="11778840" cy="5394600"/>
          </a:xfrm>
          <a:prstGeom prst="rect">
            <a:avLst/>
          </a:prstGeom>
          <a:noFill/>
          <a:ln w="0">
            <a:noFill/>
          </a:ln>
        </p:spPr>
        <p:txBody>
          <a:bodyPr lIns="0" tIns="0" rIns="0" bIns="0" anchor="ctr">
            <a:noAutofit/>
          </a:bodyPr>
          <a:lstStyle/>
          <a:p>
            <a:pPr algn="ctr"/>
            <a:endParaRPr lang="en-IN" sz="3200" b="0" strike="noStrike" spc="-1" dirty="0">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54" name="PlaceHolder 2"/>
          <p:cNvSpPr>
            <a:spLocks noGrp="1"/>
          </p:cNvSpPr>
          <p:nvPr>
            <p:ph/>
          </p:nvPr>
        </p:nvSpPr>
        <p:spPr>
          <a:xfrm>
            <a:off x="199440" y="1097280"/>
            <a:ext cx="1177884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56"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57"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0" y="232920"/>
            <a:ext cx="12191760" cy="33138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1"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2"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3"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5"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6"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7" name="PlaceHolder 4"/>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9"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0"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1" name="PlaceHolder 4"/>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73" name="PlaceHolder 2"/>
          <p:cNvSpPr>
            <a:spLocks noGrp="1"/>
          </p:cNvSpPr>
          <p:nvPr>
            <p:ph/>
          </p:nvPr>
        </p:nvSpPr>
        <p:spPr>
          <a:xfrm>
            <a:off x="199440" y="109728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4" name="PlaceHolder 3"/>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76"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7"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8"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9" name="PlaceHolder 5"/>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81" name="PlaceHolder 2"/>
          <p:cNvSpPr>
            <a:spLocks noGrp="1"/>
          </p:cNvSpPr>
          <p:nvPr>
            <p:ph/>
          </p:nvPr>
        </p:nvSpPr>
        <p:spPr>
          <a:xfrm>
            <a:off x="19944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2" name="PlaceHolder 3"/>
          <p:cNvSpPr>
            <a:spLocks noGrp="1"/>
          </p:cNvSpPr>
          <p:nvPr>
            <p:ph/>
          </p:nvPr>
        </p:nvSpPr>
        <p:spPr>
          <a:xfrm>
            <a:off x="418212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3" name="PlaceHolder 4"/>
          <p:cNvSpPr>
            <a:spLocks noGrp="1"/>
          </p:cNvSpPr>
          <p:nvPr>
            <p:ph/>
          </p:nvPr>
        </p:nvSpPr>
        <p:spPr>
          <a:xfrm>
            <a:off x="816480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4" name="PlaceHolder 5"/>
          <p:cNvSpPr>
            <a:spLocks noGrp="1"/>
          </p:cNvSpPr>
          <p:nvPr>
            <p:ph/>
          </p:nvPr>
        </p:nvSpPr>
        <p:spPr>
          <a:xfrm>
            <a:off x="19944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5" name="PlaceHolder 6"/>
          <p:cNvSpPr>
            <a:spLocks noGrp="1"/>
          </p:cNvSpPr>
          <p:nvPr>
            <p:ph/>
          </p:nvPr>
        </p:nvSpPr>
        <p:spPr>
          <a:xfrm>
            <a:off x="418212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6" name="PlaceHolder 7"/>
          <p:cNvSpPr>
            <a:spLocks noGrp="1"/>
          </p:cNvSpPr>
          <p:nvPr>
            <p:ph/>
          </p:nvPr>
        </p:nvSpPr>
        <p:spPr>
          <a:xfrm>
            <a:off x="816480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359816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Date Placeholder 3"/>
          <p:cNvSpPr/>
          <p:nvPr/>
        </p:nvSpPr>
        <p:spPr>
          <a:xfrm>
            <a:off x="777240" y="6634440"/>
            <a:ext cx="5781600" cy="220680"/>
          </a:xfrm>
          <a:prstGeom prst="rect">
            <a:avLst/>
          </a:prstGeom>
          <a:solidFill>
            <a:srgbClr val="002060"/>
          </a:solidFill>
          <a:ln w="0">
            <a:noFill/>
          </a:ln>
        </p:spPr>
        <p:style>
          <a:lnRef idx="0">
            <a:scrgbClr r="0" g="0" b="0"/>
          </a:lnRef>
          <a:fillRef idx="0">
            <a:scrgbClr r="0" g="0" b="0"/>
          </a:fillRef>
          <a:effectRef idx="0">
            <a:scrgbClr r="0" g="0" b="0"/>
          </a:effectRef>
          <a:fontRef idx="minor"/>
        </p:style>
        <p:txBody>
          <a:bodyPr/>
          <a:lstStyle/>
          <a:p>
            <a:endParaRPr lang="en-IN"/>
          </a:p>
        </p:txBody>
      </p:sp>
      <p:sp>
        <p:nvSpPr>
          <p:cNvPr id="8" name="Date Placeholder 3"/>
          <p:cNvSpPr/>
          <p:nvPr/>
        </p:nvSpPr>
        <p:spPr>
          <a:xfrm>
            <a:off x="6559200" y="6634440"/>
            <a:ext cx="5194800" cy="220680"/>
          </a:xfrm>
          <a:prstGeom prst="rect">
            <a:avLst/>
          </a:prstGeom>
          <a:solidFill>
            <a:srgbClr val="008080"/>
          </a:solidFill>
          <a:ln w="0">
            <a:noFill/>
          </a:ln>
        </p:spPr>
        <p:style>
          <a:lnRef idx="0">
            <a:scrgbClr r="0" g="0" b="0"/>
          </a:lnRef>
          <a:fillRef idx="0">
            <a:scrgbClr r="0" g="0" b="0"/>
          </a:fillRef>
          <a:effectRef idx="0">
            <a:scrgbClr r="0" g="0" b="0"/>
          </a:effectRef>
          <a:fontRef idx="minor"/>
        </p:style>
        <p:txBody>
          <a:bodyPr/>
          <a:lstStyle/>
          <a:p>
            <a:endParaRPr lang="en-IN"/>
          </a:p>
        </p:txBody>
      </p:sp>
      <p:sp>
        <p:nvSpPr>
          <p:cNvPr id="2" name="Date Placeholder 3"/>
          <p:cNvSpPr/>
          <p:nvPr/>
        </p:nvSpPr>
        <p:spPr>
          <a:xfrm>
            <a:off x="11754360" y="6636960"/>
            <a:ext cx="437400" cy="22068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a:lstStyle/>
          <a:p>
            <a:endParaRPr lang="en-IN"/>
          </a:p>
        </p:txBody>
      </p:sp>
      <p:sp>
        <p:nvSpPr>
          <p:cNvPr id="3" name="Date Placeholder 3"/>
          <p:cNvSpPr/>
          <p:nvPr/>
        </p:nvSpPr>
        <p:spPr>
          <a:xfrm>
            <a:off x="0" y="0"/>
            <a:ext cx="12191760" cy="232560"/>
          </a:xfrm>
          <a:prstGeom prst="rect">
            <a:avLst/>
          </a:prstGeom>
          <a:solidFill>
            <a:srgbClr val="006666"/>
          </a:solidFill>
          <a:ln w="0">
            <a:noFill/>
          </a:ln>
        </p:spPr>
        <p:style>
          <a:lnRef idx="0">
            <a:scrgbClr r="0" g="0" b="0"/>
          </a:lnRef>
          <a:fillRef idx="0">
            <a:scrgbClr r="0" g="0" b="0"/>
          </a:fillRef>
          <a:effectRef idx="0">
            <a:scrgbClr r="0" g="0" b="0"/>
          </a:effectRef>
          <a:fontRef idx="minor"/>
        </p:style>
        <p:txBody>
          <a:bodyPr/>
          <a:lstStyle/>
          <a:p>
            <a:endParaRPr lang="en-IN"/>
          </a:p>
        </p:txBody>
      </p:sp>
      <p:sp>
        <p:nvSpPr>
          <p:cNvPr id="4" name="Date Placeholder 3"/>
          <p:cNvSpPr/>
          <p:nvPr/>
        </p:nvSpPr>
        <p:spPr>
          <a:xfrm>
            <a:off x="0" y="6634440"/>
            <a:ext cx="776880" cy="221040"/>
          </a:xfrm>
          <a:prstGeom prst="rect">
            <a:avLst/>
          </a:prstGeom>
          <a:solidFill>
            <a:schemeClr val="accent2">
              <a:lumMod val="75000"/>
            </a:schemeClr>
          </a:solidFill>
          <a:ln w="0">
            <a:noFill/>
          </a:ln>
        </p:spPr>
        <p:style>
          <a:lnRef idx="0">
            <a:scrgbClr r="0" g="0" b="0"/>
          </a:lnRef>
          <a:fillRef idx="0">
            <a:scrgbClr r="0" g="0" b="0"/>
          </a:fillRef>
          <a:effectRef idx="0">
            <a:scrgbClr r="0" g="0" b="0"/>
          </a:effectRef>
          <a:fontRef idx="minor"/>
        </p:style>
        <p:txBody>
          <a:bodyPr/>
          <a:lstStyle/>
          <a:p>
            <a:endParaRPr lang="en-IN"/>
          </a:p>
        </p:txBody>
      </p:sp>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r>
              <a:rPr lang="en-US" sz="1800" b="0" strike="noStrike" spc="-1">
                <a:solidFill>
                  <a:srgbClr val="000000"/>
                </a:solidFill>
                <a:latin typeface="Calibri" panose="020F0502020204030204"/>
              </a:rPr>
              <a:t>Click to edit the title text format</a:t>
            </a:r>
          </a:p>
        </p:txBody>
      </p:sp>
      <p:sp>
        <p:nvSpPr>
          <p:cNvPr id="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1800" indent="-323850" algn="just">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Times New Roman" panose="02020603050405020304"/>
              </a:rPr>
              <a:t>Click to edit the outline text format</a:t>
            </a:r>
          </a:p>
          <a:p>
            <a:pPr marL="864235" lvl="1" indent="-323850" algn="just">
              <a:spcBef>
                <a:spcPts val="1135"/>
              </a:spcBef>
              <a:buClr>
                <a:srgbClr val="000000"/>
              </a:buClr>
              <a:buSzPct val="75000"/>
              <a:buFont typeface="Symbol" panose="05050102010706020507" charset="2"/>
              <a:buChar char=""/>
            </a:pPr>
            <a:r>
              <a:rPr lang="en-US" sz="2000" b="0" strike="noStrike" spc="-1">
                <a:solidFill>
                  <a:srgbClr val="000000"/>
                </a:solidFill>
                <a:latin typeface="Times New Roman" panose="02020603050405020304"/>
              </a:rPr>
              <a:t>Second Outline Level</a:t>
            </a:r>
          </a:p>
          <a:p>
            <a:pPr marL="1296035" lvl="2" indent="-288290" algn="just">
              <a:spcBef>
                <a:spcPts val="850"/>
              </a:spcBef>
              <a:buClr>
                <a:srgbClr val="000000"/>
              </a:buClr>
              <a:buSzPct val="45000"/>
              <a:buFont typeface="Wingdings" panose="05000000000000000000" pitchFamily="2" charset="2"/>
              <a:buChar char=""/>
            </a:pPr>
            <a:r>
              <a:rPr lang="en-US" sz="1800" b="0" strike="noStrike" spc="-1">
                <a:solidFill>
                  <a:srgbClr val="000000"/>
                </a:solidFill>
                <a:latin typeface="Times New Roman" panose="02020603050405020304"/>
              </a:rPr>
              <a:t>Third Outline Level</a:t>
            </a:r>
          </a:p>
          <a:p>
            <a:pPr marL="1727835" lvl="3" indent="-215900" algn="just">
              <a:spcBef>
                <a:spcPts val="565"/>
              </a:spcBef>
              <a:buClr>
                <a:srgbClr val="000000"/>
              </a:buClr>
              <a:buSzPct val="75000"/>
              <a:buFont typeface="Symbol" panose="05050102010706020507" charset="2"/>
              <a:buChar char=""/>
            </a:pPr>
            <a:r>
              <a:rPr lang="en-US" sz="1800" b="0" strike="noStrike" spc="-1">
                <a:solidFill>
                  <a:srgbClr val="000000"/>
                </a:solidFill>
                <a:latin typeface="Times New Roman" panose="02020603050405020304"/>
              </a:rPr>
              <a:t>Fourth Outline Level</a:t>
            </a:r>
          </a:p>
          <a:p>
            <a:pPr marL="2160270" lvl="4"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Fifth Outline Level</a:t>
            </a:r>
          </a:p>
          <a:p>
            <a:pPr marL="2592070" lvl="5"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Sixth Outline Level</a:t>
            </a:r>
          </a:p>
          <a:p>
            <a:pPr marL="3023870" lvl="6"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a:solidFill>
                  <a:srgbClr val="FFFFFF"/>
                </a:solidFill>
                <a:latin typeface="Times New Roman" panose="02020603050405020304"/>
              </a:rPr>
              <a:t>Click to edit Master title style</a:t>
            </a:r>
            <a:endParaRPr lang="en-US" sz="4400" b="0" strike="noStrike" spc="-1">
              <a:solidFill>
                <a:srgbClr val="000000"/>
              </a:solidFill>
              <a:latin typeface="Calibri" panose="020F0502020204030204"/>
            </a:endParaRPr>
          </a:p>
        </p:txBody>
      </p:sp>
      <p:sp>
        <p:nvSpPr>
          <p:cNvPr id="44" name="PlaceHolder 2"/>
          <p:cNvSpPr>
            <a:spLocks noGrp="1"/>
          </p:cNvSpPr>
          <p:nvPr>
            <p:ph type="body"/>
          </p:nvPr>
        </p:nvSpPr>
        <p:spPr>
          <a:xfrm>
            <a:off x="199440" y="1097280"/>
            <a:ext cx="11778840" cy="5394600"/>
          </a:xfrm>
          <a:prstGeom prst="rect">
            <a:avLst/>
          </a:prstGeom>
          <a:noFill/>
          <a:ln w="0">
            <a:noFill/>
          </a:ln>
        </p:spPr>
        <p:txBody>
          <a:bodyPr anchor="t">
            <a:noAutofit/>
          </a:bodyPr>
          <a:lstStyle/>
          <a:p>
            <a:pPr marL="228600" indent="-228600" algn="just">
              <a:lnSpc>
                <a:spcPct val="90000"/>
              </a:lnSpc>
              <a:spcBef>
                <a:spcPts val="1000"/>
              </a:spcBef>
              <a:buClr>
                <a:srgbClr val="000000"/>
              </a:buClr>
              <a:buFont typeface="Wingdings" panose="05000000000000000000" pitchFamily="2" charset="2"/>
              <a:buChar char=""/>
            </a:pPr>
            <a:r>
              <a:rPr lang="en-US" sz="2800" b="0" strike="noStrike" spc="-1">
                <a:solidFill>
                  <a:srgbClr val="000000"/>
                </a:solidFill>
                <a:latin typeface="Times New Roman" panose="02020603050405020304"/>
              </a:rPr>
              <a:t>Edit Master text styles</a:t>
            </a:r>
          </a:p>
          <a:p>
            <a:pPr marL="685800" lvl="1" indent="-228600" algn="just">
              <a:lnSpc>
                <a:spcPct val="90000"/>
              </a:lnSpc>
              <a:spcBef>
                <a:spcPts val="500"/>
              </a:spcBef>
              <a:buClr>
                <a:srgbClr val="000000"/>
              </a:buClr>
              <a:buFont typeface="Wingdings" panose="05000000000000000000" pitchFamily="2" charset="2"/>
              <a:buChar char=""/>
            </a:pPr>
            <a:r>
              <a:rPr lang="en-US" sz="2400" b="0" strike="noStrike" spc="-1">
                <a:solidFill>
                  <a:srgbClr val="000000"/>
                </a:solidFill>
                <a:latin typeface="Times New Roman" panose="02020603050405020304"/>
              </a:rPr>
              <a:t>Second level</a:t>
            </a:r>
          </a:p>
          <a:p>
            <a:pPr marL="1143000" lvl="2" indent="-228600" algn="just">
              <a:lnSpc>
                <a:spcPct val="90000"/>
              </a:lnSpc>
              <a:spcBef>
                <a:spcPts val="500"/>
              </a:spcBef>
              <a:buClr>
                <a:srgbClr val="000000"/>
              </a:buClr>
              <a:buFont typeface="Courier New" panose="02070309020205020404"/>
              <a:buChar char="o"/>
            </a:pPr>
            <a:r>
              <a:rPr lang="en-US" sz="2000" b="0" strike="noStrike" spc="-1">
                <a:solidFill>
                  <a:srgbClr val="000000"/>
                </a:solidFill>
                <a:latin typeface="Times New Roman" panose="02020603050405020304"/>
              </a:rPr>
              <a:t>Third level</a:t>
            </a:r>
          </a:p>
          <a:p>
            <a:pPr marL="1600200" lvl="3" indent="-228600" algn="just">
              <a:lnSpc>
                <a:spcPct val="90000"/>
              </a:lnSpc>
              <a:spcBef>
                <a:spcPts val="500"/>
              </a:spcBef>
              <a:buClr>
                <a:srgbClr val="000000"/>
              </a:buClr>
              <a:buFont typeface="Wingdings" panose="05000000000000000000" pitchFamily="2" charset="2"/>
              <a:buChar char=""/>
            </a:pPr>
            <a:r>
              <a:rPr lang="en-US" sz="1800" b="0" strike="noStrike" spc="-1">
                <a:solidFill>
                  <a:srgbClr val="000000"/>
                </a:solidFill>
                <a:latin typeface="Times New Roman" panose="02020603050405020304"/>
              </a:rPr>
              <a:t>Fourth level</a:t>
            </a:r>
          </a:p>
          <a:p>
            <a:pPr marL="2057400" lvl="4" indent="-228600" algn="just">
              <a:lnSpc>
                <a:spcPct val="90000"/>
              </a:lnSpc>
              <a:spcBef>
                <a:spcPts val="500"/>
              </a:spcBef>
              <a:buClr>
                <a:srgbClr val="000000"/>
              </a:buClr>
              <a:buFont typeface="Arial" panose="020B0604020202020204"/>
              <a:buChar char="•"/>
            </a:pPr>
            <a:r>
              <a:rPr lang="en-US" sz="1800" b="0" strike="noStrike" spc="-1">
                <a:solidFill>
                  <a:srgbClr val="000000"/>
                </a:solidFill>
                <a:latin typeface="Times New Roman" panose="02020603050405020304"/>
              </a:rPr>
              <a:t>Fifth level</a:t>
            </a:r>
          </a:p>
        </p:txBody>
      </p:sp>
      <p:sp>
        <p:nvSpPr>
          <p:cNvPr id="45" name="Date Placeholder 3"/>
          <p:cNvSpPr/>
          <p:nvPr/>
        </p:nvSpPr>
        <p:spPr>
          <a:xfrm>
            <a:off x="777240" y="6642720"/>
            <a:ext cx="5653800" cy="214920"/>
          </a:xfrm>
          <a:prstGeom prst="rect">
            <a:avLst/>
          </a:prstGeom>
          <a:solidFill>
            <a:srgbClr val="002060"/>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dirty="0">
                <a:solidFill>
                  <a:srgbClr val="FFFFFF"/>
                </a:solidFill>
                <a:latin typeface="Times New Roman" panose="02020603050405020304"/>
              </a:rPr>
              <a:t>Dept. of Computer Science and Engineering</a:t>
            </a:r>
            <a:endParaRPr lang="en-IN" sz="1600" b="0" strike="noStrike" spc="-1" dirty="0">
              <a:latin typeface="Arial" panose="020B0604020202020204"/>
            </a:endParaRPr>
          </a:p>
        </p:txBody>
      </p:sp>
      <p:sp>
        <p:nvSpPr>
          <p:cNvPr id="46" name="Date Placeholder 3"/>
          <p:cNvSpPr/>
          <p:nvPr/>
        </p:nvSpPr>
        <p:spPr>
          <a:xfrm>
            <a:off x="6431400" y="6642000"/>
            <a:ext cx="5322600" cy="215640"/>
          </a:xfrm>
          <a:prstGeom prst="rect">
            <a:avLst/>
          </a:prstGeom>
          <a:solidFill>
            <a:srgbClr val="008080"/>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a:solidFill>
                  <a:srgbClr val="FFFFFF"/>
                </a:solidFill>
                <a:latin typeface="Times New Roman" panose="02020603050405020304"/>
              </a:rPr>
              <a:t>Srinivasa Ramanujan Institute of Technology</a:t>
            </a:r>
            <a:endParaRPr lang="en-IN" sz="1600" b="0" strike="noStrike" spc="-1">
              <a:latin typeface="Arial" panose="020B0604020202020204"/>
            </a:endParaRPr>
          </a:p>
        </p:txBody>
      </p:sp>
      <p:sp>
        <p:nvSpPr>
          <p:cNvPr id="47" name="Date Placeholder 3"/>
          <p:cNvSpPr/>
          <p:nvPr/>
        </p:nvSpPr>
        <p:spPr>
          <a:xfrm>
            <a:off x="11623040" y="6642100"/>
            <a:ext cx="568960" cy="21590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fld id="{287FBA57-AD8A-4D8D-8881-00EAA4F18DD5}" type="slidenum">
              <a:rPr lang="en-IN" sz="1600" b="1" strike="noStrike" spc="-1">
                <a:solidFill>
                  <a:srgbClr val="002060"/>
                </a:solidFill>
                <a:latin typeface="Times New Roman" panose="02020603050405020304"/>
              </a:rPr>
              <a:t>‹#›</a:t>
            </a:fld>
            <a:endParaRPr lang="en-IN" sz="1600" b="0" strike="noStrike" spc="-1">
              <a:latin typeface="Arial" panose="020B0604020202020204"/>
            </a:endParaRPr>
          </a:p>
        </p:txBody>
      </p:sp>
      <p:sp>
        <p:nvSpPr>
          <p:cNvPr id="48" name="Date Placeholder 3"/>
          <p:cNvSpPr/>
          <p:nvPr/>
        </p:nvSpPr>
        <p:spPr>
          <a:xfrm>
            <a:off x="0" y="0"/>
            <a:ext cx="12191760" cy="232560"/>
          </a:xfrm>
          <a:prstGeom prst="rect">
            <a:avLst/>
          </a:prstGeom>
          <a:solidFill>
            <a:srgbClr val="006666"/>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500" b="1" i="1" strike="noStrike" spc="-1">
                <a:solidFill>
                  <a:srgbClr val="FFFFFF"/>
                </a:solidFill>
                <a:latin typeface="Times New Roman" panose="02020603050405020304"/>
              </a:rPr>
              <a:t>Title of the Project</a:t>
            </a:r>
            <a:endParaRPr lang="en-IN" sz="1500" b="0" strike="noStrike" spc="-1">
              <a:latin typeface="Arial" panose="020B0604020202020204"/>
            </a:endParaRPr>
          </a:p>
        </p:txBody>
      </p:sp>
      <p:pic>
        <p:nvPicPr>
          <p:cNvPr id="49" name="Picture 5"/>
          <p:cNvPicPr/>
          <p:nvPr/>
        </p:nvPicPr>
        <p:blipFill>
          <a:blip r:embed="rId15" cstate="print"/>
          <a:stretch>
            <a:fillRect/>
          </a:stretch>
        </p:blipFill>
        <p:spPr>
          <a:xfrm>
            <a:off x="11506320" y="5956200"/>
            <a:ext cx="685440" cy="685440"/>
          </a:xfrm>
          <a:prstGeom prst="rect">
            <a:avLst/>
          </a:prstGeom>
          <a:ln w="0">
            <a:noFill/>
          </a:ln>
        </p:spPr>
      </p:pic>
      <p:sp>
        <p:nvSpPr>
          <p:cNvPr id="50" name="Date Placeholder 3"/>
          <p:cNvSpPr/>
          <p:nvPr/>
        </p:nvSpPr>
        <p:spPr>
          <a:xfrm>
            <a:off x="0" y="6642735"/>
            <a:ext cx="932815" cy="214630"/>
          </a:xfrm>
          <a:prstGeom prst="rect">
            <a:avLst/>
          </a:prstGeom>
          <a:solidFill>
            <a:schemeClr val="accent2">
              <a:lumMod val="75000"/>
            </a:schemeClr>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a:solidFill>
                  <a:srgbClr val="FFFFFF"/>
                </a:solidFill>
                <a:latin typeface="Times New Roman" panose="02020603050405020304"/>
              </a:rPr>
              <a:t>A - XX</a:t>
            </a:r>
            <a:endParaRPr lang="en-IN" sz="1600" b="0" strike="noStrike" spc="-1">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MahithaYadav/CSE-2022-2026-Batch-B4" TargetMode="Externa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p:nvPr/>
        </p:nvSpPr>
        <p:spPr>
          <a:xfrm>
            <a:off x="8229600" y="2120677"/>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2600" b="0" dirty="0">
                <a:effectLst>
                  <a:outerShdw blurRad="38100" dist="38100" dir="2700000" algn="tl">
                    <a:srgbClr val="000000">
                      <a:alpha val="43137"/>
                    </a:srgbClr>
                  </a:outerShdw>
                </a:effectLst>
              </a:rPr>
              <a:t>S. Nikitha</a:t>
            </a:r>
            <a:endParaRPr lang="en-US" sz="2600" b="0" dirty="0">
              <a:effectLst>
                <a:outerShdw blurRad="38100" dist="38100" dir="2700000" algn="tl">
                  <a:srgbClr val="000000">
                    <a:alpha val="43137"/>
                  </a:srgbClr>
                </a:outerShdw>
              </a:effectLst>
            </a:endParaRPr>
          </a:p>
          <a:p>
            <a:pPr>
              <a:spcBef>
                <a:spcPts val="300"/>
              </a:spcBef>
            </a:pPr>
            <a:r>
              <a:rPr lang="en-US" sz="1200" b="0" dirty="0"/>
              <a:t>Roll No. 224G1A0561</a:t>
            </a:r>
          </a:p>
        </p:txBody>
      </p:sp>
      <p:sp>
        <p:nvSpPr>
          <p:cNvPr id="6" name="Subtitle 11"/>
          <p:cNvSpPr txBox="1"/>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IN" sz="2400" b="0" dirty="0">
                <a:effectLst>
                  <a:outerShdw blurRad="38100" dist="38100" dir="2700000" algn="tl">
                    <a:srgbClr val="000000">
                      <a:alpha val="43137"/>
                    </a:srgbClr>
                  </a:outerShdw>
                </a:effectLst>
              </a:rPr>
              <a:t>Ms. C. Rekha, </a:t>
            </a:r>
            <a:r>
              <a:rPr lang="en-IN" sz="1050" b="0" dirty="0">
                <a:effectLst>
                  <a:outerShdw blurRad="38100" dist="38100" dir="2700000" algn="tl">
                    <a:srgbClr val="000000">
                      <a:alpha val="43137"/>
                    </a:srgbClr>
                  </a:outerShdw>
                </a:effectLst>
              </a:rPr>
              <a:t>M. Tech</a:t>
            </a:r>
          </a:p>
          <a:p>
            <a:pPr>
              <a:spcBef>
                <a:spcPts val="200"/>
              </a:spcBef>
            </a:pPr>
            <a:r>
              <a:rPr lang="en-IN" sz="2400" b="0" dirty="0">
                <a:effectLst>
                  <a:outerShdw blurRad="38100" dist="38100" dir="2700000" algn="tl">
                    <a:srgbClr val="000000">
                      <a:alpha val="43137"/>
                    </a:srgbClr>
                  </a:outerShdw>
                </a:effectLst>
              </a:rPr>
              <a:t>Assistant Professor</a:t>
            </a:r>
            <a:endParaRPr lang="en-IN" sz="1400" b="0" dirty="0"/>
          </a:p>
        </p:txBody>
      </p:sp>
      <p:sp>
        <p:nvSpPr>
          <p:cNvPr id="7" name="Subtitle 11"/>
          <p:cNvSpPr txBox="1"/>
          <p:nvPr/>
        </p:nvSpPr>
        <p:spPr>
          <a:xfrm>
            <a:off x="1514475" y="5162533"/>
            <a:ext cx="9163049" cy="1427181"/>
          </a:xfrm>
          <a:prstGeom prst="rect">
            <a:avLst/>
          </a:prstGeom>
        </p:spPr>
        <p:txBody>
          <a:bodyPr vert="horz" lIns="91440" tIns="45720" rIns="91440" bIns="45720" rtlCol="0">
            <a:normAutofit fontScale="5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2025-2026</a:t>
            </a:r>
            <a:endParaRPr lang="en-US" sz="2500" b="0" dirty="0"/>
          </a:p>
          <a:p>
            <a:endParaRPr lang="en-IN" b="0" dirty="0"/>
          </a:p>
        </p:txBody>
      </p:sp>
      <p:sp>
        <p:nvSpPr>
          <p:cNvPr id="12" name="Subtitle 11"/>
          <p:cNvSpPr txBox="1"/>
          <p:nvPr/>
        </p:nvSpPr>
        <p:spPr>
          <a:xfrm>
            <a:off x="1506167" y="2116589"/>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2600" b="0" dirty="0">
                <a:effectLst>
                  <a:outerShdw blurRad="38100" dist="38100" dir="2700000" algn="tl">
                    <a:srgbClr val="000000">
                      <a:alpha val="43137"/>
                    </a:srgbClr>
                  </a:outerShdw>
                </a:effectLst>
              </a:rPr>
              <a:t>C. Eswar</a:t>
            </a:r>
            <a:endParaRPr lang="en-US" sz="2600" b="0" dirty="0">
              <a:effectLst>
                <a:outerShdw blurRad="38100" dist="38100" dir="2700000" algn="tl">
                  <a:srgbClr val="000000">
                    <a:alpha val="43137"/>
                  </a:srgbClr>
                </a:outerShdw>
              </a:effectLst>
            </a:endParaRPr>
          </a:p>
          <a:p>
            <a:pPr>
              <a:spcBef>
                <a:spcPts val="300"/>
              </a:spcBef>
            </a:pPr>
            <a:r>
              <a:rPr lang="en-US" sz="1200" b="0" dirty="0"/>
              <a:t>Roll No. 234G5A0502</a:t>
            </a:r>
          </a:p>
        </p:txBody>
      </p:sp>
      <p:sp>
        <p:nvSpPr>
          <p:cNvPr id="14" name="Subtitle 11"/>
          <p:cNvSpPr txBox="1"/>
          <p:nvPr/>
        </p:nvSpPr>
        <p:spPr>
          <a:xfrm>
            <a:off x="4904528" y="1757598"/>
            <a:ext cx="2639272" cy="584534"/>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G. Yashoda Mahitha</a:t>
            </a:r>
          </a:p>
          <a:p>
            <a:pPr>
              <a:spcBef>
                <a:spcPts val="300"/>
              </a:spcBef>
            </a:pPr>
            <a:r>
              <a:rPr lang="en-US" sz="1200" b="0" dirty="0"/>
              <a:t>Roll No. </a:t>
            </a:r>
            <a:r>
              <a:rPr lang="en-US" sz="1300" b="0" dirty="0"/>
              <a:t>224G1A05A2</a:t>
            </a:r>
          </a:p>
        </p:txBody>
      </p:sp>
      <p:sp>
        <p:nvSpPr>
          <p:cNvPr id="17" name="Rectangle: Rounded Corners 16"/>
          <p:cNvSpPr/>
          <p:nvPr/>
        </p:nvSpPr>
        <p:spPr>
          <a:xfrm>
            <a:off x="755009" y="304800"/>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332301" y="3477046"/>
            <a:ext cx="1527379" cy="1685487"/>
          </a:xfrm>
          <a:prstGeom prst="rect">
            <a:avLst/>
          </a:prstGeom>
        </p:spPr>
      </p:pic>
      <p:sp>
        <p:nvSpPr>
          <p:cNvPr id="2" name="TextBox 1">
            <a:extLst>
              <a:ext uri="{FF2B5EF4-FFF2-40B4-BE49-F238E27FC236}">
                <a16:creationId xmlns:a16="http://schemas.microsoft.com/office/drawing/2014/main" id="{B14EA438-6317-B4FF-FE76-FB53A9F6DEA7}"/>
              </a:ext>
            </a:extLst>
          </p:cNvPr>
          <p:cNvSpPr txBox="1"/>
          <p:nvPr/>
        </p:nvSpPr>
        <p:spPr>
          <a:xfrm>
            <a:off x="609600" y="457200"/>
            <a:ext cx="10744200" cy="492443"/>
          </a:xfrm>
          <a:prstGeom prst="rect">
            <a:avLst/>
          </a:prstGeom>
          <a:noFill/>
        </p:spPr>
        <p:txBody>
          <a:bodyPr wrap="square" rtlCol="0">
            <a:spAutoFit/>
          </a:bodyPr>
          <a:lstStyle/>
          <a:p>
            <a:pPr algn="ctr"/>
            <a:r>
              <a:rPr 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4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Contents</a:t>
            </a:r>
            <a:endParaRPr lang="en-US" sz="4400" b="0" strike="noStrike" spc="-1" dirty="0">
              <a:solidFill>
                <a:srgbClr val="000000"/>
              </a:solidFill>
              <a:latin typeface="Calibri" panose="020F0502020204030204"/>
            </a:endParaRPr>
          </a:p>
        </p:txBody>
      </p:sp>
      <p:sp>
        <p:nvSpPr>
          <p:cNvPr id="98" name="PlaceHolder 2"/>
          <p:cNvSpPr>
            <a:spLocks noGrp="1"/>
          </p:cNvSpPr>
          <p:nvPr>
            <p:ph/>
          </p:nvPr>
        </p:nvSpPr>
        <p:spPr>
          <a:xfrm>
            <a:off x="199440" y="1097280"/>
            <a:ext cx="11778840" cy="5394600"/>
          </a:xfrm>
          <a:prstGeom prst="rect">
            <a:avLst/>
          </a:prstGeom>
          <a:noFill/>
          <a:ln w="0">
            <a:noFill/>
          </a:ln>
        </p:spPr>
        <p:txBody>
          <a:bodyPr anchor="t">
            <a:noAutofit/>
          </a:bodyPr>
          <a:lstStyle/>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Title Justification</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Abstract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Problem statement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Objectives of Project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Literature survey for objectives</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Proposed Work -(Methods to be followed for proposed system) </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References</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GitHub Link</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Queries</a:t>
            </a:r>
          </a:p>
          <a:p>
            <a:pPr algn="just">
              <a:lnSpc>
                <a:spcPct val="90000"/>
              </a:lnSpc>
              <a:spcBef>
                <a:spcPts val="1000"/>
              </a:spcBef>
              <a:tabLst>
                <a:tab pos="0" algn="l"/>
              </a:tabLst>
            </a:pPr>
            <a:endParaRPr lang="en-US" sz="2800" b="0" strike="noStrike" spc="-1" dirty="0">
              <a:solidFill>
                <a:srgbClr val="000000"/>
              </a:solidFill>
              <a:latin typeface="Times New Roman" panose="02020603050405020304"/>
            </a:endParaRPr>
          </a:p>
        </p:txBody>
      </p:sp>
      <p:sp>
        <p:nvSpPr>
          <p:cNvPr id="2" name="Rectangle 1">
            <a:extLst>
              <a:ext uri="{FF2B5EF4-FFF2-40B4-BE49-F238E27FC236}">
                <a16:creationId xmlns:a16="http://schemas.microsoft.com/office/drawing/2014/main" id="{67980CE8-0DF4-ADFB-351E-3165106C569D}"/>
              </a:ext>
            </a:extLst>
          </p:cNvPr>
          <p:cNvSpPr/>
          <p:nvPr/>
        </p:nvSpPr>
        <p:spPr>
          <a:xfrm>
            <a:off x="0" y="20320"/>
            <a:ext cx="12192000" cy="2202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F8A77198-5804-B7A9-5356-DCA44BB9FAFE}"/>
              </a:ext>
            </a:extLst>
          </p:cNvPr>
          <p:cNvGraphicFramePr>
            <a:graphicFrameLocks noGrp="1"/>
          </p:cNvGraphicFramePr>
          <p:nvPr>
            <p:extLst>
              <p:ext uri="{D42A27DB-BD31-4B8C-83A1-F6EECF244321}">
                <p14:modId xmlns:p14="http://schemas.microsoft.com/office/powerpoint/2010/main" val="2724315670"/>
              </p:ext>
            </p:extLst>
          </p:nvPr>
        </p:nvGraphicFramePr>
        <p:xfrm>
          <a:off x="0" y="6651040"/>
          <a:ext cx="12192000"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6">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0">
                <a:tc>
                  <a:txBody>
                    <a:bodyPr/>
                    <a:lstStyle/>
                    <a:p>
                      <a:r>
                        <a:rPr lang="en-US" sz="16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4</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IN" sz="1600" dirty="0">
                          <a:solidFill>
                            <a:schemeClr val="tx1"/>
                          </a:solidFill>
                          <a:latin typeface="Times New Roman" panose="02020603050405020304" pitchFamily="18" charset="0"/>
                          <a:cs typeface="Times New Roman" panose="02020603050405020304" pitchFamily="18" charset="0"/>
                        </a:rPr>
                        <a:t>02</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4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dirty="0">
                <a:solidFill>
                  <a:srgbClr val="000000"/>
                </a:solidFill>
                <a:latin typeface="Times New Roman" panose="02020603050405020304"/>
                <a:sym typeface="+mn-ea"/>
              </a:rPr>
              <a:t>Title Justification</a:t>
            </a:r>
            <a:endParaRPr lang="en-US" sz="4400" b="0" strike="noStrike" spc="-1" dirty="0">
              <a:solidFill>
                <a:srgbClr val="000000"/>
              </a:solidFill>
              <a:latin typeface="Calibri" panose="020F0502020204030204"/>
            </a:endParaRPr>
          </a:p>
        </p:txBody>
      </p:sp>
      <p:sp>
        <p:nvSpPr>
          <p:cNvPr id="98" name="PlaceHolder 2"/>
          <p:cNvSpPr>
            <a:spLocks noGrp="1"/>
          </p:cNvSpPr>
          <p:nvPr>
            <p:ph/>
          </p:nvPr>
        </p:nvSpPr>
        <p:spPr>
          <a:xfrm>
            <a:off x="199440" y="1097280"/>
            <a:ext cx="11778840" cy="5394600"/>
          </a:xfrm>
          <a:prstGeom prst="rect">
            <a:avLst/>
          </a:prstGeom>
          <a:noFill/>
          <a:ln w="0">
            <a:noFill/>
          </a:ln>
        </p:spPr>
        <p:txBody>
          <a:bodyPr anchor="t">
            <a:noAutofit/>
          </a:bodyPr>
          <a:lstStyle/>
          <a:p>
            <a:pPr marL="0" indent="0">
              <a:spcBef>
                <a:spcPts val="0"/>
              </a:spcBef>
              <a:buSzPts val="2400"/>
              <a:buNone/>
            </a:pPr>
            <a:r>
              <a:rPr lang="en-US" sz="2400" b="1" dirty="0">
                <a:latin typeface="Times New Roman" panose="02020603050405020304" pitchFamily="18" charset="0"/>
                <a:cs typeface="Times New Roman" panose="02020603050405020304" pitchFamily="18" charset="0"/>
              </a:rPr>
              <a:t>The title “A Symptom-Based Multi-Disease Prediction System Using Machine Learning” reflects the system’s core functionality, encompassing:</a:t>
            </a:r>
            <a:endParaRPr lang="en-US" sz="2400" dirty="0">
              <a:latin typeface="Times New Roman" panose="02020603050405020304" pitchFamily="18" charset="0"/>
              <a:cs typeface="Times New Roman" panose="02020603050405020304" pitchFamily="18" charset="0"/>
            </a:endParaRPr>
          </a:p>
          <a:p>
            <a:pPr marL="228600" indent="-228600">
              <a:lnSpc>
                <a:spcPct val="150000"/>
              </a:lnSpc>
              <a:spcBef>
                <a:spcPts val="0"/>
              </a:spcBef>
              <a:buSzPts val="2400"/>
            </a:pPr>
            <a:r>
              <a:rPr lang="en-US" sz="2400" dirty="0">
                <a:latin typeface="Times New Roman" panose="02020603050405020304" pitchFamily="18" charset="0"/>
                <a:cs typeface="Times New Roman" panose="02020603050405020304" pitchFamily="18" charset="0"/>
              </a:rPr>
              <a:t>Predicting multiple diseases using patient symptom data.</a:t>
            </a:r>
          </a:p>
          <a:p>
            <a:pPr marL="342900" indent="-342900">
              <a:lnSpc>
                <a:spcPct val="150000"/>
              </a:lnSpc>
              <a:spcBef>
                <a:spcPts val="0"/>
              </a:spcBef>
              <a:buSzPts val="2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Detecting diseases such as Diabetes, Heart Attack, Tuberculosis, Pneumonia, Jaundice, and Bronchial Asthma using Machine Learning algorithms.</a:t>
            </a:r>
          </a:p>
          <a:p>
            <a:pPr marL="342900" indent="-342900">
              <a:lnSpc>
                <a:spcPct val="150000"/>
              </a:lnSpc>
              <a:spcBef>
                <a:spcPts val="0"/>
              </a:spcBef>
              <a:buSzPts val="2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Applying models including Logistic Regression, Support Vector Machine (SVM), Decision Tree, Random Forest, XGBoost, AdaBoost, and Artificial Neural Networks (ANN).</a:t>
            </a:r>
          </a:p>
          <a:p>
            <a:pPr marL="342900" indent="-342900">
              <a:lnSpc>
                <a:spcPct val="150000"/>
              </a:lnSpc>
              <a:spcBef>
                <a:spcPts val="0"/>
              </a:spcBef>
              <a:buSzPts val="2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Enabling fast and accurate symptom-based disease prediction, reducing manual diagnosis effort and supporting early medical decision-making.</a:t>
            </a:r>
          </a:p>
          <a:p>
            <a:pPr algn="just">
              <a:lnSpc>
                <a:spcPct val="90000"/>
              </a:lnSpc>
              <a:spcBef>
                <a:spcPts val="1000"/>
              </a:spcBef>
              <a:tabLst>
                <a:tab pos="0" algn="l"/>
              </a:tabLst>
            </a:pPr>
            <a:endParaRPr lang="en-US" sz="24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904196C-D280-79FA-5366-CDF433801D5E}"/>
              </a:ext>
            </a:extLst>
          </p:cNvPr>
          <p:cNvSpPr/>
          <p:nvPr/>
        </p:nvSpPr>
        <p:spPr>
          <a:xfrm>
            <a:off x="0" y="20320"/>
            <a:ext cx="12192000" cy="2202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051DDFC4-1CB5-0B07-6226-FBEB29B5D625}"/>
              </a:ext>
            </a:extLst>
          </p:cNvPr>
          <p:cNvGraphicFramePr>
            <a:graphicFrameLocks noGrp="1"/>
          </p:cNvGraphicFramePr>
          <p:nvPr>
            <p:extLst>
              <p:ext uri="{D42A27DB-BD31-4B8C-83A1-F6EECF244321}">
                <p14:modId xmlns:p14="http://schemas.microsoft.com/office/powerpoint/2010/main" val="3617634041"/>
              </p:ext>
            </p:extLst>
          </p:nvPr>
        </p:nvGraphicFramePr>
        <p:xfrm>
          <a:off x="0" y="6651040"/>
          <a:ext cx="12192000"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6">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0">
                <a:tc>
                  <a:txBody>
                    <a:bodyPr/>
                    <a:lstStyle/>
                    <a:p>
                      <a:r>
                        <a:rPr lang="en-US" sz="16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4</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IN" sz="1600" dirty="0">
                          <a:solidFill>
                            <a:schemeClr val="tx1"/>
                          </a:solidFill>
                          <a:latin typeface="Times New Roman" panose="02020603050405020304" pitchFamily="18" charset="0"/>
                          <a:cs typeface="Times New Roman" panose="02020603050405020304" pitchFamily="18" charset="0"/>
                        </a:rPr>
                        <a:t>03</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gn="l">
              <a:lnSpc>
                <a:spcPct val="90000"/>
              </a:lnSpc>
              <a:spcBef>
                <a:spcPts val="1000"/>
              </a:spcBef>
            </a:pPr>
            <a:r>
              <a:rPr lang="en-US" sz="3600" b="0" strike="noStrike" spc="-1" dirty="0">
                <a:solidFill>
                  <a:srgbClr val="000000"/>
                </a:solidFill>
                <a:latin typeface="Times New Roman" panose="02020603050405020304"/>
              </a:rPr>
              <a:t>Abstract</a:t>
            </a:r>
            <a:endParaRPr lang="en-US" sz="3600" b="0" strike="noStrike" spc="-1" dirty="0">
              <a:solidFill>
                <a:srgbClr val="000000"/>
              </a:solidFill>
              <a:latin typeface="Calibri" panose="020F0502020204030204"/>
            </a:endParaRPr>
          </a:p>
        </p:txBody>
      </p:sp>
      <p:sp>
        <p:nvSpPr>
          <p:cNvPr id="100" name="PlaceHolder 2"/>
          <p:cNvSpPr>
            <a:spLocks noGrp="1"/>
          </p:cNvSpPr>
          <p:nvPr>
            <p:ph/>
          </p:nvPr>
        </p:nvSpPr>
        <p:spPr>
          <a:xfrm>
            <a:off x="199440" y="1097280"/>
            <a:ext cx="11778840" cy="5394600"/>
          </a:xfrm>
          <a:prstGeom prst="rect">
            <a:avLst/>
          </a:prstGeom>
          <a:noFill/>
          <a:ln w="0">
            <a:noFill/>
          </a:ln>
        </p:spPr>
        <p:txBody>
          <a:bodyPr anchor="t">
            <a:noAutofit/>
          </a:bodyPr>
          <a:lstStyle/>
          <a:p>
            <a:pPr marL="342900" indent="-342900" eaLnBrk="0" fontAlgn="base" hangingPunct="0">
              <a:lnSpc>
                <a:spcPct val="100000"/>
              </a:lnSpc>
              <a:spcBef>
                <a:spcPct val="0"/>
              </a:spcBef>
              <a:spcAft>
                <a:spcPct val="0"/>
              </a:spcAft>
              <a:buClrTx/>
              <a:buSzTx/>
              <a:buFont typeface="Arial" panose="020B0604020202020204" pitchFamily="34" charset="0"/>
              <a:buChar char="•"/>
            </a:pPr>
            <a:r>
              <a:rPr lang="en-US" altLang="en-US" sz="2000" b="1" dirty="0">
                <a:solidFill>
                  <a:schemeClr val="tx1"/>
                </a:solidFill>
                <a:latin typeface="Times New Roman" panose="02020603050405020304" pitchFamily="18" charset="0"/>
                <a:cs typeface="Times New Roman" panose="02020603050405020304" pitchFamily="18" charset="0"/>
              </a:rPr>
              <a:t>Introduction</a:t>
            </a:r>
          </a:p>
          <a:p>
            <a:pPr marL="457200" lvl="1" indent="0" eaLnBrk="0" fontAlgn="base" hangingPunct="0">
              <a:lnSpc>
                <a:spcPct val="100000"/>
              </a:lnSpc>
              <a:spcBef>
                <a:spcPct val="0"/>
              </a:spcBef>
              <a:spcAft>
                <a:spcPct val="0"/>
              </a:spcAft>
              <a:buClrTx/>
              <a:buSzTx/>
              <a:buNone/>
            </a:pPr>
            <a:r>
              <a:rPr lang="en-US" altLang="en-US" sz="2000" dirty="0">
                <a:solidFill>
                  <a:schemeClr val="tx1"/>
                </a:solidFill>
                <a:latin typeface="Times New Roman" panose="02020603050405020304" pitchFamily="18" charset="0"/>
                <a:cs typeface="Times New Roman" panose="02020603050405020304" pitchFamily="18" charset="0"/>
              </a:rPr>
              <a:t>Accurate and early prediction of diseases using symptom data plays a vital role in supporting timely medical diagnosis and treatment.</a:t>
            </a:r>
          </a:p>
          <a:p>
            <a:pPr marL="342900" indent="-342900" eaLnBrk="0" fontAlgn="base" hangingPunct="0">
              <a:lnSpc>
                <a:spcPct val="100000"/>
              </a:lnSpc>
              <a:spcBef>
                <a:spcPct val="0"/>
              </a:spcBef>
              <a:spcAft>
                <a:spcPct val="0"/>
              </a:spcAft>
              <a:buClrTx/>
              <a:buSzTx/>
              <a:buFont typeface="Arial" panose="020B0604020202020204" pitchFamily="34" charset="0"/>
              <a:buChar char="•"/>
            </a:pPr>
            <a:r>
              <a:rPr lang="en-US" altLang="en-US" sz="2000" b="1" dirty="0">
                <a:solidFill>
                  <a:schemeClr val="tx1"/>
                </a:solidFill>
                <a:latin typeface="Times New Roman" panose="02020603050405020304" pitchFamily="18" charset="0"/>
                <a:cs typeface="Times New Roman" panose="02020603050405020304" pitchFamily="18" charset="0"/>
              </a:rPr>
              <a:t>Research Gap</a:t>
            </a:r>
            <a:endParaRPr lang="en-US" altLang="en-US" sz="2000" dirty="0">
              <a:solidFill>
                <a:schemeClr val="tx1"/>
              </a:solidFill>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ClrTx/>
              <a:buSzTx/>
              <a:buNone/>
            </a:pPr>
            <a:r>
              <a:rPr lang="en-US" altLang="en-US" sz="2000" dirty="0">
                <a:solidFill>
                  <a:schemeClr val="tx1"/>
                </a:solidFill>
                <a:latin typeface="Times New Roman" panose="02020603050405020304" pitchFamily="18" charset="0"/>
                <a:cs typeface="Times New Roman" panose="02020603050405020304" pitchFamily="18" charset="0"/>
              </a:rPr>
              <a:t>Most existing systems focus on predicting a single disease or lack intelligent learning models capable of handling multiple diseases within a unified framework.</a:t>
            </a:r>
          </a:p>
          <a:p>
            <a:pPr lvl="0" indent="-457200" eaLnBrk="0" fontAlgn="base" hangingPunct="0">
              <a:lnSpc>
                <a:spcPct val="100000"/>
              </a:lnSpc>
              <a:spcBef>
                <a:spcPct val="0"/>
              </a:spcBef>
              <a:spcAft>
                <a:spcPct val="0"/>
              </a:spcAft>
              <a:buClrTx/>
              <a:buSzTx/>
              <a:buFont typeface="Arial" panose="020B0604020202020204" pitchFamily="34" charset="0"/>
              <a:buChar char="•"/>
            </a:pPr>
            <a:r>
              <a:rPr lang="en-US" altLang="en-US" sz="2000" b="1" dirty="0">
                <a:solidFill>
                  <a:schemeClr val="tx1"/>
                </a:solidFill>
                <a:latin typeface="Times New Roman" panose="02020603050405020304" pitchFamily="18" charset="0"/>
                <a:cs typeface="Times New Roman" panose="02020603050405020304" pitchFamily="18" charset="0"/>
              </a:rPr>
              <a:t>Methodology Used</a:t>
            </a:r>
            <a:endParaRPr lang="en-US" altLang="en-US" sz="2000" dirty="0">
              <a:solidFill>
                <a:schemeClr val="tx1"/>
              </a:solidFill>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ClrTx/>
              <a:buSzTx/>
              <a:buNone/>
            </a:pPr>
            <a:r>
              <a:rPr lang="en-US" altLang="en-US" sz="2000" dirty="0">
                <a:solidFill>
                  <a:schemeClr val="tx1"/>
                </a:solidFill>
                <a:latin typeface="Times New Roman" panose="02020603050405020304" pitchFamily="18" charset="0"/>
                <a:cs typeface="Times New Roman" panose="02020603050405020304" pitchFamily="18" charset="0"/>
              </a:rPr>
              <a:t>The proposed system applies machine learning and deep learning techniques including Logistic Regression, Support Vector Machine, Decision Tree, Random Forest, XGBoost, AdaBoost, and an Artificial Neural Network (ANN) to classify multiple diseases based on patient symptoms.</a:t>
            </a:r>
          </a:p>
          <a:p>
            <a:pPr indent="-457200" eaLnBrk="0" fontAlgn="base" hangingPunct="0">
              <a:lnSpc>
                <a:spcPct val="100000"/>
              </a:lnSpc>
              <a:spcBef>
                <a:spcPct val="0"/>
              </a:spcBef>
              <a:spcAft>
                <a:spcPct val="0"/>
              </a:spcAft>
              <a:buClrTx/>
              <a:buSzTx/>
              <a:buFont typeface="Arial" panose="020B0604020202020204" pitchFamily="34" charset="0"/>
              <a:buChar char="•"/>
            </a:pPr>
            <a:r>
              <a:rPr lang="en-US" altLang="en-US" sz="2000" b="1" dirty="0">
                <a:solidFill>
                  <a:schemeClr val="tx1"/>
                </a:solidFill>
                <a:latin typeface="Times New Roman" panose="02020603050405020304" pitchFamily="18" charset="0"/>
                <a:cs typeface="Times New Roman" panose="02020603050405020304" pitchFamily="18" charset="0"/>
              </a:rPr>
              <a:t>Result</a:t>
            </a:r>
            <a:endParaRPr lang="en-US" altLang="en-US" sz="2000" dirty="0">
              <a:solidFill>
                <a:schemeClr val="tx1"/>
              </a:solidFill>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ClrTx/>
              <a:buSzTx/>
              <a:buNone/>
            </a:pPr>
            <a:r>
              <a:rPr lang="en-US" altLang="en-US" sz="2000" dirty="0">
                <a:solidFill>
                  <a:schemeClr val="tx1"/>
                </a:solidFill>
                <a:latin typeface="Times New Roman" panose="02020603050405020304" pitchFamily="18" charset="0"/>
                <a:cs typeface="Times New Roman" panose="02020603050405020304" pitchFamily="18" charset="0"/>
              </a:rPr>
              <a:t>Performance evaluation shows that both machine learning models and the ANN achieve high classification accuracy, demonstrating effective learning of symptom–disease relationships.</a:t>
            </a:r>
          </a:p>
          <a:p>
            <a:pPr lvl="0" indent="-457200" eaLnBrk="0" fontAlgn="base" hangingPunct="0">
              <a:lnSpc>
                <a:spcPct val="100000"/>
              </a:lnSpc>
              <a:spcBef>
                <a:spcPct val="0"/>
              </a:spcBef>
              <a:spcAft>
                <a:spcPct val="0"/>
              </a:spcAft>
              <a:buClrTx/>
              <a:buSzTx/>
              <a:buFont typeface="Arial" panose="020B0604020202020204" pitchFamily="34" charset="0"/>
              <a:buChar char="•"/>
            </a:pPr>
            <a:r>
              <a:rPr lang="en-US" altLang="en-US" sz="2000" b="1" dirty="0">
                <a:solidFill>
                  <a:schemeClr val="tx1"/>
                </a:solidFill>
                <a:latin typeface="Times New Roman" panose="02020603050405020304" pitchFamily="18" charset="0"/>
                <a:cs typeface="Times New Roman" panose="02020603050405020304" pitchFamily="18" charset="0"/>
              </a:rPr>
              <a:t>Conclusion</a:t>
            </a:r>
            <a:endParaRPr lang="en-US" altLang="en-US" sz="2000" dirty="0">
              <a:solidFill>
                <a:schemeClr val="tx1"/>
              </a:solidFill>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ClrTx/>
              <a:buSzTx/>
              <a:buNone/>
            </a:pPr>
            <a:r>
              <a:rPr lang="en-US" altLang="en-US" sz="2000" dirty="0">
                <a:solidFill>
                  <a:schemeClr val="tx1"/>
                </a:solidFill>
                <a:latin typeface="Times New Roman" panose="02020603050405020304" pitchFamily="18" charset="0"/>
                <a:cs typeface="Times New Roman" panose="02020603050405020304" pitchFamily="18" charset="0"/>
              </a:rPr>
              <a:t>The multi-disease prediction system successfully integrates traditional machine learning models with deep learning, offering a reliable and scalable approach for automated disease diagnosis.</a:t>
            </a:r>
          </a:p>
          <a:p>
            <a:pPr marL="0" lvl="0" indent="0" rtl="0">
              <a:lnSpc>
                <a:spcPct val="90000"/>
              </a:lnSpc>
              <a:spcBef>
                <a:spcPts val="1000"/>
              </a:spcBef>
              <a:spcAft>
                <a:spcPts val="0"/>
              </a:spcAft>
              <a:buClr>
                <a:schemeClr val="dk1"/>
              </a:buClr>
              <a:buSzPts val="2800"/>
              <a:buNone/>
            </a:pPr>
            <a:endParaRPr lang="en-US" sz="2000" dirty="0">
              <a:latin typeface="Times New Roman" panose="02020603050405020304" pitchFamily="18" charset="0"/>
              <a:cs typeface="Times New Roman" panose="02020603050405020304" pitchFamily="18" charset="0"/>
            </a:endParaRPr>
          </a:p>
          <a:p>
            <a:pPr algn="just">
              <a:lnSpc>
                <a:spcPct val="90000"/>
              </a:lnSpc>
              <a:spcBef>
                <a:spcPts val="1000"/>
              </a:spcBef>
            </a:pPr>
            <a:endParaRPr lang="en-US" sz="2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842131AC-2AD6-5936-84B7-F8F0BBCD8F4C}"/>
              </a:ext>
            </a:extLst>
          </p:cNvPr>
          <p:cNvSpPr/>
          <p:nvPr/>
        </p:nvSpPr>
        <p:spPr>
          <a:xfrm>
            <a:off x="0" y="20320"/>
            <a:ext cx="12192000" cy="2202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5630D8EE-6E69-5168-2229-973F3F34F3D4}"/>
              </a:ext>
            </a:extLst>
          </p:cNvPr>
          <p:cNvGraphicFramePr>
            <a:graphicFrameLocks noGrp="1"/>
          </p:cNvGraphicFramePr>
          <p:nvPr>
            <p:extLst>
              <p:ext uri="{D42A27DB-BD31-4B8C-83A1-F6EECF244321}">
                <p14:modId xmlns:p14="http://schemas.microsoft.com/office/powerpoint/2010/main" val="4108269585"/>
              </p:ext>
            </p:extLst>
          </p:nvPr>
        </p:nvGraphicFramePr>
        <p:xfrm>
          <a:off x="0" y="6651040"/>
          <a:ext cx="12192000"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6">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0">
                <a:tc>
                  <a:txBody>
                    <a:bodyPr/>
                    <a:lstStyle/>
                    <a:p>
                      <a:r>
                        <a:rPr lang="en-US" sz="1600" dirty="0">
                          <a:latin typeface="Times New Roman" panose="02020603050405020304" pitchFamily="18" charset="0"/>
                          <a:cs typeface="Times New Roman" panose="02020603050405020304" pitchFamily="18" charset="0"/>
                        </a:rPr>
                        <a:t>B4</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IN" sz="1600" dirty="0">
                          <a:solidFill>
                            <a:schemeClr val="tx1"/>
                          </a:solidFill>
                          <a:latin typeface="Times New Roman" panose="02020603050405020304" pitchFamily="18" charset="0"/>
                          <a:cs typeface="Times New Roman" panose="02020603050405020304" pitchFamily="18" charset="0"/>
                        </a:rPr>
                        <a:t>04</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a:solidFill>
                  <a:srgbClr val="FFFFFF"/>
                </a:solidFill>
                <a:latin typeface="Times New Roman" panose="02020603050405020304"/>
              </a:rPr>
              <a:t>Problem Statement</a:t>
            </a:r>
            <a:endParaRPr lang="en-US" sz="4400" b="0" strike="noStrike" spc="-1">
              <a:solidFill>
                <a:srgbClr val="000000"/>
              </a:solidFill>
              <a:latin typeface="Calibri" panose="020F0502020204030204"/>
            </a:endParaRPr>
          </a:p>
        </p:txBody>
      </p:sp>
      <p:sp>
        <p:nvSpPr>
          <p:cNvPr id="102" name="PlaceHolder 2"/>
          <p:cNvSpPr>
            <a:spLocks noGrp="1"/>
          </p:cNvSpPr>
          <p:nvPr>
            <p:ph/>
          </p:nvPr>
        </p:nvSpPr>
        <p:spPr>
          <a:xfrm>
            <a:off x="199440" y="1097280"/>
            <a:ext cx="11459520" cy="5075280"/>
          </a:xfrm>
          <a:prstGeom prst="rect">
            <a:avLst/>
          </a:prstGeom>
          <a:noFill/>
          <a:ln w="0">
            <a:noFill/>
          </a:ln>
        </p:spPr>
        <p:txBody>
          <a:bodyPr anchor="t">
            <a:normAutofit/>
          </a:bodyPr>
          <a:lstStyle/>
          <a:p>
            <a:pPr marL="457200" indent="-457200" algn="just">
              <a:lnSpc>
                <a:spcPct val="90000"/>
              </a:lnSpc>
              <a:spcBef>
                <a:spcPts val="1000"/>
              </a:spcBef>
              <a:buClr>
                <a:srgbClr val="000000"/>
              </a:buCl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Many existing disease prediction systems focus on predicting only a single disease, which limits their usefulness in real-world healthcare scenarios where multiple diseases may share similar symptoms.</a:t>
            </a:r>
          </a:p>
          <a:p>
            <a:pPr marL="457200" indent="-457200" algn="just">
              <a:lnSpc>
                <a:spcPct val="90000"/>
              </a:lnSpc>
              <a:spcBef>
                <a:spcPts val="1000"/>
              </a:spcBef>
              <a:buClr>
                <a:srgbClr val="000000"/>
              </a:buCl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Traditional diagnosis methods often rely on manual analysis and clinical experience, which can be time-consuming and may delay early disease detection.</a:t>
            </a:r>
          </a:p>
          <a:p>
            <a:pPr marL="457200" indent="-457200" algn="just">
              <a:lnSpc>
                <a:spcPct val="90000"/>
              </a:lnSpc>
              <a:spcBef>
                <a:spcPts val="1000"/>
              </a:spcBef>
              <a:buClr>
                <a:srgbClr val="000000"/>
              </a:buCl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There is a need for a system that can analyze symptom-based data efficiently and predict multiple diseases, supporting quick and accurate preliminary health assessment.</a:t>
            </a:r>
          </a:p>
        </p:txBody>
      </p:sp>
      <p:sp>
        <p:nvSpPr>
          <p:cNvPr id="3" name="Rectangle 2">
            <a:extLst>
              <a:ext uri="{FF2B5EF4-FFF2-40B4-BE49-F238E27FC236}">
                <a16:creationId xmlns:a16="http://schemas.microsoft.com/office/drawing/2014/main" id="{314A3FF4-7ABB-1958-F732-CF74213E9C2F}"/>
              </a:ext>
            </a:extLst>
          </p:cNvPr>
          <p:cNvSpPr/>
          <p:nvPr/>
        </p:nvSpPr>
        <p:spPr>
          <a:xfrm>
            <a:off x="0" y="20320"/>
            <a:ext cx="12192000" cy="2202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D71D00CF-792C-E4E3-09F1-A72A7429EDA2}"/>
              </a:ext>
            </a:extLst>
          </p:cNvPr>
          <p:cNvGraphicFramePr>
            <a:graphicFrameLocks noGrp="1"/>
          </p:cNvGraphicFramePr>
          <p:nvPr>
            <p:extLst>
              <p:ext uri="{D42A27DB-BD31-4B8C-83A1-F6EECF244321}">
                <p14:modId xmlns:p14="http://schemas.microsoft.com/office/powerpoint/2010/main" val="2052313156"/>
              </p:ext>
            </p:extLst>
          </p:nvPr>
        </p:nvGraphicFramePr>
        <p:xfrm>
          <a:off x="0" y="6651040"/>
          <a:ext cx="12192000"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6">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0">
                <a:tc>
                  <a:txBody>
                    <a:bodyPr/>
                    <a:lstStyle/>
                    <a:p>
                      <a:r>
                        <a:rPr lang="en-US" sz="16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4</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IN" sz="1600" dirty="0">
                          <a:solidFill>
                            <a:schemeClr val="tx1"/>
                          </a:solidFill>
                          <a:latin typeface="Times New Roman" panose="02020603050405020304" pitchFamily="18" charset="0"/>
                          <a:cs typeface="Times New Roman" panose="02020603050405020304" pitchFamily="18" charset="0"/>
                        </a:rPr>
                        <a:t>04</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484762" y="1585205"/>
            <a:ext cx="5339953" cy="1744762"/>
          </a:xfrm>
          <a:prstGeom prst="roundRect">
            <a:avLst>
              <a:gd name="adj" fmla="val 6988"/>
            </a:avLst>
          </a:prstGeom>
          <a:solidFill>
            <a:srgbClr val="FFFFFF">
              <a:alpha val="95000"/>
            </a:srgbClr>
          </a:solidFill>
          <a:ln w="30480">
            <a:solidFill>
              <a:srgbClr val="CECEC9"/>
            </a:solidFill>
            <a:prstDash val="solid"/>
          </a:ln>
        </p:spPr>
        <p:txBody>
          <a:bodyPr/>
          <a:lstStyle/>
          <a:p>
            <a:endParaRPr lang="en-IN"/>
          </a:p>
        </p:txBody>
      </p:sp>
      <p:sp>
        <p:nvSpPr>
          <p:cNvPr id="4" name="Shape 2"/>
          <p:cNvSpPr/>
          <p:nvPr/>
        </p:nvSpPr>
        <p:spPr>
          <a:xfrm>
            <a:off x="3484762" y="1594583"/>
            <a:ext cx="101600" cy="1744762"/>
          </a:xfrm>
          <a:prstGeom prst="roundRect">
            <a:avLst>
              <a:gd name="adj" fmla="val 78139"/>
            </a:avLst>
          </a:prstGeom>
          <a:solidFill>
            <a:srgbClr val="E5E5E0"/>
          </a:solidFill>
          <a:ln/>
        </p:spPr>
        <p:txBody>
          <a:bodyPr/>
          <a:lstStyle/>
          <a:p>
            <a:endParaRPr lang="en-IN"/>
          </a:p>
        </p:txBody>
      </p:sp>
      <p:sp>
        <p:nvSpPr>
          <p:cNvPr id="5" name="Text 3"/>
          <p:cNvSpPr/>
          <p:nvPr/>
        </p:nvSpPr>
        <p:spPr>
          <a:xfrm>
            <a:off x="3733184" y="1736218"/>
            <a:ext cx="2362696" cy="295275"/>
          </a:xfrm>
          <a:prstGeom prst="rect">
            <a:avLst/>
          </a:prstGeom>
          <a:noFill/>
          <a:ln/>
        </p:spPr>
        <p:txBody>
          <a:bodyPr wrap="none" lIns="0" tIns="0" rIns="0" bIns="0" rtlCol="0" anchor="t"/>
          <a:lstStyle/>
          <a:p>
            <a:pPr>
              <a:lnSpc>
                <a:spcPts val="2292"/>
              </a:lnSpc>
            </a:pPr>
            <a:r>
              <a:rPr lang="en-US" sz="2300" dirty="0">
                <a:solidFill>
                  <a:srgbClr val="272525"/>
                </a:solidFill>
                <a:latin typeface="Times New Roman" panose="02020603050405020304" pitchFamily="18" charset="0"/>
                <a:ea typeface="Gelasio" pitchFamily="34" charset="-122"/>
                <a:cs typeface="Times New Roman" panose="02020603050405020304" pitchFamily="18" charset="0"/>
              </a:rPr>
              <a:t>Objective</a:t>
            </a:r>
            <a:r>
              <a:rPr lang="en-US" sz="2300" dirty="0">
                <a:solidFill>
                  <a:srgbClr val="272525"/>
                </a:solidFill>
                <a:latin typeface="Gelasio" pitchFamily="34" charset="0"/>
                <a:ea typeface="Gelasio" pitchFamily="34" charset="-122"/>
                <a:cs typeface="Gelasio" pitchFamily="34" charset="-120"/>
              </a:rPr>
              <a:t> 1</a:t>
            </a:r>
            <a:endParaRPr lang="en-US" sz="2300" dirty="0"/>
          </a:p>
        </p:txBody>
      </p:sp>
      <p:sp>
        <p:nvSpPr>
          <p:cNvPr id="6" name="Text 4"/>
          <p:cNvSpPr/>
          <p:nvPr/>
        </p:nvSpPr>
        <p:spPr>
          <a:xfrm>
            <a:off x="3886299" y="2164898"/>
            <a:ext cx="4834930" cy="907257"/>
          </a:xfrm>
          <a:prstGeom prst="rect">
            <a:avLst/>
          </a:prstGeom>
          <a:noFill/>
          <a:ln/>
        </p:spPr>
        <p:txBody>
          <a:bodyPr wrap="square" lIns="0" tIns="0" rIns="0" bIns="0" rtlCol="0" anchor="t"/>
          <a:lstStyle/>
          <a:p>
            <a:pPr>
              <a:lnSpc>
                <a:spcPts val="2375"/>
              </a:lnSpc>
            </a:pPr>
            <a:r>
              <a:rPr lang="en-US" dirty="0">
                <a:latin typeface="Times New Roman" panose="02020603050405020304" pitchFamily="18" charset="0"/>
                <a:cs typeface="Times New Roman" panose="02020603050405020304" pitchFamily="18" charset="0"/>
              </a:rPr>
              <a:t>To build a system that predicts multiple diseases using patient symptom data and machine learning classification techniques. </a:t>
            </a:r>
          </a:p>
        </p:txBody>
      </p:sp>
      <p:sp>
        <p:nvSpPr>
          <p:cNvPr id="7" name="Shape 5"/>
          <p:cNvSpPr/>
          <p:nvPr/>
        </p:nvSpPr>
        <p:spPr>
          <a:xfrm>
            <a:off x="3484762" y="4183154"/>
            <a:ext cx="5340053" cy="1744762"/>
          </a:xfrm>
          <a:prstGeom prst="roundRect">
            <a:avLst>
              <a:gd name="adj" fmla="val 6988"/>
            </a:avLst>
          </a:prstGeom>
          <a:solidFill>
            <a:srgbClr val="FFFFFF">
              <a:alpha val="95000"/>
            </a:srgbClr>
          </a:solidFill>
          <a:ln w="30480">
            <a:solidFill>
              <a:srgbClr val="CECEC9"/>
            </a:solidFill>
            <a:prstDash val="solid"/>
          </a:ln>
        </p:spPr>
        <p:txBody>
          <a:bodyPr/>
          <a:lstStyle/>
          <a:p>
            <a:endParaRPr lang="en-IN"/>
          </a:p>
        </p:txBody>
      </p:sp>
      <p:sp>
        <p:nvSpPr>
          <p:cNvPr id="8" name="Shape 6"/>
          <p:cNvSpPr/>
          <p:nvPr/>
        </p:nvSpPr>
        <p:spPr>
          <a:xfrm>
            <a:off x="3473756" y="4173776"/>
            <a:ext cx="101600" cy="1744762"/>
          </a:xfrm>
          <a:prstGeom prst="roundRect">
            <a:avLst>
              <a:gd name="adj" fmla="val 78139"/>
            </a:avLst>
          </a:prstGeom>
          <a:solidFill>
            <a:srgbClr val="E5E5E0"/>
          </a:solidFill>
          <a:ln/>
        </p:spPr>
        <p:txBody>
          <a:bodyPr/>
          <a:lstStyle/>
          <a:p>
            <a:endParaRPr lang="en-IN"/>
          </a:p>
        </p:txBody>
      </p:sp>
      <p:sp>
        <p:nvSpPr>
          <p:cNvPr id="9" name="Text 7"/>
          <p:cNvSpPr/>
          <p:nvPr/>
        </p:nvSpPr>
        <p:spPr>
          <a:xfrm>
            <a:off x="3771284" y="4316559"/>
            <a:ext cx="2362696" cy="295275"/>
          </a:xfrm>
          <a:prstGeom prst="rect">
            <a:avLst/>
          </a:prstGeom>
          <a:noFill/>
          <a:ln/>
        </p:spPr>
        <p:txBody>
          <a:bodyPr wrap="none" lIns="0" tIns="0" rIns="0" bIns="0" rtlCol="0" anchor="t"/>
          <a:lstStyle/>
          <a:p>
            <a:pPr>
              <a:lnSpc>
                <a:spcPts val="2292"/>
              </a:lnSpc>
            </a:pPr>
            <a:r>
              <a:rPr lang="en-US" sz="2300" dirty="0">
                <a:solidFill>
                  <a:srgbClr val="272525"/>
                </a:solidFill>
                <a:latin typeface="Times New Roman" panose="02020603050405020304" pitchFamily="18" charset="0"/>
                <a:ea typeface="Gelasio" pitchFamily="34" charset="-122"/>
                <a:cs typeface="Times New Roman" panose="02020603050405020304" pitchFamily="18" charset="0"/>
              </a:rPr>
              <a:t>Objective 2</a:t>
            </a:r>
            <a:endParaRPr lang="en-US" sz="2300" dirty="0">
              <a:latin typeface="Times New Roman" panose="02020603050405020304" pitchFamily="18" charset="0"/>
              <a:cs typeface="Times New Roman" panose="02020603050405020304" pitchFamily="18" charset="0"/>
            </a:endParaRPr>
          </a:p>
        </p:txBody>
      </p:sp>
      <p:sp>
        <p:nvSpPr>
          <p:cNvPr id="10" name="Text 8"/>
          <p:cNvSpPr/>
          <p:nvPr/>
        </p:nvSpPr>
        <p:spPr>
          <a:xfrm>
            <a:off x="3886200" y="4770317"/>
            <a:ext cx="4835029" cy="907257"/>
          </a:xfrm>
          <a:prstGeom prst="rect">
            <a:avLst/>
          </a:prstGeom>
          <a:noFill/>
          <a:ln/>
        </p:spPr>
        <p:txBody>
          <a:bodyPr wrap="square" lIns="0" tIns="0" rIns="0" bIns="0" rtlCol="0" anchor="t"/>
          <a:lstStyle/>
          <a:p>
            <a:pPr>
              <a:lnSpc>
                <a:spcPts val="2375"/>
              </a:lnSpc>
            </a:pPr>
            <a:r>
              <a:rPr lang="en-US" dirty="0">
                <a:latin typeface="Times New Roman" panose="02020603050405020304" pitchFamily="18" charset="0"/>
                <a:cs typeface="Times New Roman" panose="02020603050405020304" pitchFamily="18" charset="0"/>
              </a:rPr>
              <a:t>To evaluate and compare different machine learning models in order to improve prediction accuracy and provide reliable disease identification. </a:t>
            </a:r>
          </a:p>
        </p:txBody>
      </p:sp>
      <p:sp>
        <p:nvSpPr>
          <p:cNvPr id="11" name="PlaceHolder 1">
            <a:extLst>
              <a:ext uri="{FF2B5EF4-FFF2-40B4-BE49-F238E27FC236}">
                <a16:creationId xmlns:a16="http://schemas.microsoft.com/office/drawing/2014/main" id="{40968FFF-C28F-D76B-1EAD-379BB62F0A61}"/>
              </a:ext>
            </a:extLst>
          </p:cNvPr>
          <p:cNvSpPr txBox="1">
            <a:spLocks/>
          </p:cNvSpPr>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kern="0" spc="-1" dirty="0">
                <a:solidFill>
                  <a:srgbClr val="FFFFFF"/>
                </a:solidFill>
                <a:latin typeface="Times New Roman" panose="02020603050405020304"/>
              </a:rPr>
              <a:t>Objectives</a:t>
            </a:r>
            <a:endParaRPr lang="en-US" sz="4400" kern="0" spc="-1" dirty="0">
              <a:solidFill>
                <a:srgbClr val="000000"/>
              </a:solidFill>
              <a:latin typeface="Calibri" panose="020F0502020204030204"/>
            </a:endParaRPr>
          </a:p>
        </p:txBody>
      </p:sp>
      <p:sp>
        <p:nvSpPr>
          <p:cNvPr id="12" name="Rectangle 11">
            <a:extLst>
              <a:ext uri="{FF2B5EF4-FFF2-40B4-BE49-F238E27FC236}">
                <a16:creationId xmlns:a16="http://schemas.microsoft.com/office/drawing/2014/main" id="{4F032D8C-A536-AE71-7385-99FBF920B725}"/>
              </a:ext>
            </a:extLst>
          </p:cNvPr>
          <p:cNvSpPr/>
          <p:nvPr/>
        </p:nvSpPr>
        <p:spPr>
          <a:xfrm>
            <a:off x="0" y="6172200"/>
            <a:ext cx="12191760" cy="685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2E70EE65-790A-482D-B1C9-001564142F29}"/>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D0735244-D71D-E937-FC28-FBB172A731CD}"/>
              </a:ext>
            </a:extLst>
          </p:cNvPr>
          <p:cNvGraphicFramePr>
            <a:graphicFrameLocks noGrp="1"/>
          </p:cNvGraphicFramePr>
          <p:nvPr>
            <p:extLst>
              <p:ext uri="{D42A27DB-BD31-4B8C-83A1-F6EECF244321}">
                <p14:modId xmlns:p14="http://schemas.microsoft.com/office/powerpoint/2010/main" val="309245919"/>
              </p:ext>
            </p:extLst>
          </p:nvPr>
        </p:nvGraphicFramePr>
        <p:xfrm>
          <a:off x="0" y="6651040"/>
          <a:ext cx="12192000"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6">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0">
                <a:tc>
                  <a:txBody>
                    <a:bodyPr/>
                    <a:lstStyle/>
                    <a:p>
                      <a:r>
                        <a:rPr lang="en-US" sz="16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4</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IN" sz="1600" dirty="0">
                          <a:solidFill>
                            <a:schemeClr val="tx1"/>
                          </a:solidFill>
                          <a:latin typeface="Times New Roman" panose="02020603050405020304" pitchFamily="18" charset="0"/>
                          <a:cs typeface="Times New Roman" panose="02020603050405020304" pitchFamily="18" charset="0"/>
                        </a:rPr>
                        <a:t>06</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gn="just">
              <a:lnSpc>
                <a:spcPct val="90000"/>
              </a:lnSpc>
              <a:spcBef>
                <a:spcPts val="1000"/>
              </a:spcBef>
            </a:pPr>
            <a:r>
              <a:rPr lang="en-US" sz="3200" b="0" strike="noStrike" spc="-1" dirty="0">
                <a:solidFill>
                  <a:srgbClr val="000000"/>
                </a:solidFill>
                <a:latin typeface="Times New Roman" panose="02020603050405020304"/>
              </a:rPr>
              <a:t>Literature survey for objectives</a:t>
            </a:r>
            <a:endParaRPr lang="en-US" sz="3200" b="0" strike="noStrike" spc="-1" dirty="0">
              <a:solidFill>
                <a:srgbClr val="000000"/>
              </a:solidFill>
              <a:latin typeface="Calibri" panose="020F0502020204030204"/>
            </a:endParaRPr>
          </a:p>
        </p:txBody>
      </p:sp>
      <p:graphicFrame>
        <p:nvGraphicFramePr>
          <p:cNvPr id="10" name="Content Placeholder 9">
            <a:extLst>
              <a:ext uri="{FF2B5EF4-FFF2-40B4-BE49-F238E27FC236}">
                <a16:creationId xmlns:a16="http://schemas.microsoft.com/office/drawing/2014/main" id="{5447383F-CA2B-513A-652B-ED122A7515D2}"/>
              </a:ext>
            </a:extLst>
          </p:cNvPr>
          <p:cNvGraphicFramePr>
            <a:graphicFrameLocks noGrp="1"/>
          </p:cNvGraphicFramePr>
          <p:nvPr>
            <p:ph/>
            <p:extLst>
              <p:ext uri="{D42A27DB-BD31-4B8C-83A1-F6EECF244321}">
                <p14:modId xmlns:p14="http://schemas.microsoft.com/office/powerpoint/2010/main" val="475805240"/>
              </p:ext>
            </p:extLst>
          </p:nvPr>
        </p:nvGraphicFramePr>
        <p:xfrm>
          <a:off x="381000" y="1131450"/>
          <a:ext cx="11164961" cy="6138497"/>
        </p:xfrm>
        <a:graphic>
          <a:graphicData uri="http://schemas.openxmlformats.org/drawingml/2006/table">
            <a:tbl>
              <a:tblPr/>
              <a:tblGrid>
                <a:gridCol w="2595138">
                  <a:extLst>
                    <a:ext uri="{9D8B030D-6E8A-4147-A177-3AD203B41FA5}">
                      <a16:colId xmlns:a16="http://schemas.microsoft.com/office/drawing/2014/main" val="1190236324"/>
                    </a:ext>
                  </a:extLst>
                </a:gridCol>
                <a:gridCol w="1163557">
                  <a:extLst>
                    <a:ext uri="{9D8B030D-6E8A-4147-A177-3AD203B41FA5}">
                      <a16:colId xmlns:a16="http://schemas.microsoft.com/office/drawing/2014/main" val="3292094800"/>
                    </a:ext>
                  </a:extLst>
                </a:gridCol>
                <a:gridCol w="2184905">
                  <a:extLst>
                    <a:ext uri="{9D8B030D-6E8A-4147-A177-3AD203B41FA5}">
                      <a16:colId xmlns:a16="http://schemas.microsoft.com/office/drawing/2014/main" val="176060625"/>
                    </a:ext>
                  </a:extLst>
                </a:gridCol>
                <a:gridCol w="2819400">
                  <a:extLst>
                    <a:ext uri="{9D8B030D-6E8A-4147-A177-3AD203B41FA5}">
                      <a16:colId xmlns:a16="http://schemas.microsoft.com/office/drawing/2014/main" val="1429633565"/>
                    </a:ext>
                  </a:extLst>
                </a:gridCol>
                <a:gridCol w="2401961">
                  <a:extLst>
                    <a:ext uri="{9D8B030D-6E8A-4147-A177-3AD203B41FA5}">
                      <a16:colId xmlns:a16="http://schemas.microsoft.com/office/drawing/2014/main" val="1288288327"/>
                    </a:ext>
                  </a:extLst>
                </a:gridCol>
              </a:tblGrid>
              <a:tr h="544949">
                <a:tc>
                  <a:txBody>
                    <a:bodyPr/>
                    <a:lstStyle/>
                    <a:p>
                      <a:pPr algn="ctr">
                        <a:buNone/>
                      </a:pPr>
                      <a:r>
                        <a:rPr lang="en-IN" sz="1600" b="1" i="0" dirty="0">
                          <a:latin typeface="Times New Roman" panose="02020603050405020304" pitchFamily="18" charset="0"/>
                          <a:cs typeface="Times New Roman" panose="02020603050405020304" pitchFamily="18" charset="0"/>
                        </a:rPr>
                        <a:t>Author(s) / Source</a:t>
                      </a:r>
                    </a:p>
                  </a:txBody>
                  <a:tcPr marL="34141" marR="34141" marT="17071" marB="17071" anchor="ctr">
                    <a:lnL>
                      <a:noFill/>
                    </a:lnL>
                    <a:lnR>
                      <a:noFill/>
                    </a:lnR>
                    <a:lnT>
                      <a:noFill/>
                    </a:lnT>
                    <a:lnB>
                      <a:noFill/>
                    </a:lnB>
                    <a:noFill/>
                  </a:tcPr>
                </a:tc>
                <a:tc>
                  <a:txBody>
                    <a:bodyPr/>
                    <a:lstStyle/>
                    <a:p>
                      <a:pPr algn="ctr">
                        <a:buNone/>
                      </a:pPr>
                      <a:r>
                        <a:rPr lang="en-IN" sz="1600" b="1" i="0" dirty="0">
                          <a:latin typeface="Times New Roman" panose="02020603050405020304" pitchFamily="18" charset="0"/>
                          <a:cs typeface="Times New Roman" panose="02020603050405020304" pitchFamily="18" charset="0"/>
                        </a:rPr>
                        <a:t>Year</a:t>
                      </a:r>
                    </a:p>
                  </a:txBody>
                  <a:tcPr marL="34141" marR="34141" marT="17071" marB="17071" anchor="ctr">
                    <a:lnL>
                      <a:noFill/>
                    </a:lnL>
                    <a:lnR>
                      <a:noFill/>
                    </a:lnR>
                    <a:lnT>
                      <a:noFill/>
                    </a:lnT>
                    <a:lnB>
                      <a:noFill/>
                    </a:lnB>
                    <a:noFill/>
                  </a:tcPr>
                </a:tc>
                <a:tc>
                  <a:txBody>
                    <a:bodyPr/>
                    <a:lstStyle/>
                    <a:p>
                      <a:pPr algn="ctr">
                        <a:buNone/>
                      </a:pPr>
                      <a:r>
                        <a:rPr lang="en-IN" sz="1600" b="1" i="0" dirty="0">
                          <a:latin typeface="Times New Roman" panose="02020603050405020304" pitchFamily="18" charset="0"/>
                          <a:cs typeface="Times New Roman" panose="02020603050405020304" pitchFamily="18" charset="0"/>
                        </a:rPr>
                        <a:t>Objective Linked</a:t>
                      </a:r>
                    </a:p>
                  </a:txBody>
                  <a:tcPr marL="34141" marR="34141" marT="17071" marB="17071" anchor="ctr">
                    <a:lnL>
                      <a:noFill/>
                    </a:lnL>
                    <a:lnR>
                      <a:noFill/>
                    </a:lnR>
                    <a:lnT>
                      <a:noFill/>
                    </a:lnT>
                    <a:lnB>
                      <a:noFill/>
                    </a:lnB>
                    <a:noFill/>
                  </a:tcPr>
                </a:tc>
                <a:tc>
                  <a:txBody>
                    <a:bodyPr/>
                    <a:lstStyle/>
                    <a:p>
                      <a:pPr algn="ctr">
                        <a:buNone/>
                      </a:pPr>
                      <a:r>
                        <a:rPr lang="en-IN" sz="1600" b="1" i="0" dirty="0">
                          <a:latin typeface="Times New Roman" panose="02020603050405020304" pitchFamily="18" charset="0"/>
                          <a:cs typeface="Times New Roman" panose="02020603050405020304" pitchFamily="18" charset="0"/>
                        </a:rPr>
                        <a:t>Main Contribution</a:t>
                      </a:r>
                    </a:p>
                  </a:txBody>
                  <a:tcPr marL="34141" marR="34141" marT="17071" marB="17071" anchor="ctr">
                    <a:lnL>
                      <a:noFill/>
                    </a:lnL>
                    <a:lnR>
                      <a:noFill/>
                    </a:lnR>
                    <a:lnT>
                      <a:noFill/>
                    </a:lnT>
                    <a:lnB>
                      <a:noFill/>
                    </a:lnB>
                    <a:noFill/>
                  </a:tcPr>
                </a:tc>
                <a:tc>
                  <a:txBody>
                    <a:bodyPr/>
                    <a:lstStyle/>
                    <a:p>
                      <a:pPr algn="ctr">
                        <a:buNone/>
                      </a:pPr>
                      <a:r>
                        <a:rPr lang="en-IN" sz="1600" b="1" i="0" dirty="0">
                          <a:latin typeface="Times New Roman" panose="02020603050405020304" pitchFamily="18" charset="0"/>
                          <a:cs typeface="Times New Roman" panose="02020603050405020304" pitchFamily="18" charset="0"/>
                        </a:rPr>
                        <a:t>Research Gap</a:t>
                      </a:r>
                    </a:p>
                  </a:txBody>
                  <a:tcPr marL="34141" marR="34141" marT="17071" marB="17071" anchor="ctr">
                    <a:lnL>
                      <a:noFill/>
                    </a:lnL>
                    <a:lnR>
                      <a:noFill/>
                    </a:lnR>
                    <a:lnT>
                      <a:noFill/>
                    </a:lnT>
                    <a:lnB>
                      <a:noFill/>
                    </a:lnB>
                    <a:noFill/>
                  </a:tcPr>
                </a:tc>
                <a:extLst>
                  <a:ext uri="{0D108BD9-81ED-4DB2-BD59-A6C34878D82A}">
                    <a16:rowId xmlns:a16="http://schemas.microsoft.com/office/drawing/2014/main" val="4231126301"/>
                  </a:ext>
                </a:extLst>
              </a:tr>
              <a:tr h="1143001">
                <a:tc>
                  <a:txBody>
                    <a:bodyPr/>
                    <a:lstStyle/>
                    <a:p>
                      <a:pPr>
                        <a:buNone/>
                      </a:pPr>
                      <a:r>
                        <a:rPr lang="en-US" sz="1600" i="0" dirty="0">
                          <a:latin typeface="Times New Roman" panose="02020603050405020304" pitchFamily="18" charset="0"/>
                          <a:cs typeface="Times New Roman" panose="02020603050405020304" pitchFamily="18" charset="0"/>
                        </a:rPr>
                        <a:t>Kumar, S., &amp; Khan, N., IJTSRD – Machine Learning-Based Multiple Disease Prediction System</a:t>
                      </a:r>
                    </a:p>
                  </a:txBody>
                  <a:tcPr marL="34141" marR="34141" marT="17071" marB="17071" anchor="ctr">
                    <a:lnL>
                      <a:noFill/>
                    </a:lnL>
                    <a:lnR>
                      <a:noFill/>
                    </a:lnR>
                    <a:lnT>
                      <a:noFill/>
                    </a:lnT>
                    <a:lnB>
                      <a:noFill/>
                    </a:lnB>
                    <a:noFill/>
                  </a:tcPr>
                </a:tc>
                <a:tc>
                  <a:txBody>
                    <a:bodyPr/>
                    <a:lstStyle/>
                    <a:p>
                      <a:pPr algn="ctr">
                        <a:buNone/>
                      </a:pPr>
                      <a:r>
                        <a:rPr lang="en-IN" sz="1600" i="0" dirty="0">
                          <a:latin typeface="Times New Roman" panose="02020603050405020304" pitchFamily="18" charset="0"/>
                          <a:cs typeface="Times New Roman" panose="02020603050405020304" pitchFamily="18" charset="0"/>
                        </a:rPr>
                        <a:t>2025</a:t>
                      </a:r>
                    </a:p>
                  </a:txBody>
                  <a:tcPr marL="34141" marR="34141" marT="17071" marB="17071" anchor="ctr">
                    <a:lnL>
                      <a:noFill/>
                    </a:lnL>
                    <a:lnR>
                      <a:noFill/>
                    </a:lnR>
                    <a:lnT>
                      <a:noFill/>
                    </a:lnT>
                    <a:lnB>
                      <a:noFill/>
                    </a:lnB>
                    <a:noFill/>
                  </a:tcPr>
                </a:tc>
                <a:tc>
                  <a:txBody>
                    <a:bodyPr/>
                    <a:lstStyle/>
                    <a:p>
                      <a:pPr algn="ctr">
                        <a:buNone/>
                      </a:pPr>
                      <a:r>
                        <a:rPr lang="en-IN" sz="1600" i="0" dirty="0">
                          <a:latin typeface="Times New Roman" panose="02020603050405020304" pitchFamily="18" charset="0"/>
                          <a:cs typeface="Times New Roman" panose="02020603050405020304" pitchFamily="18" charset="0"/>
                        </a:rPr>
                        <a:t>Objective 1</a:t>
                      </a:r>
                    </a:p>
                  </a:txBody>
                  <a:tcPr marL="34141" marR="34141" marT="17071" marB="17071" anchor="ctr">
                    <a:lnL>
                      <a:noFill/>
                    </a:lnL>
                    <a:lnR>
                      <a:noFill/>
                    </a:lnR>
                    <a:lnT>
                      <a:noFill/>
                    </a:lnT>
                    <a:lnB>
                      <a:noFill/>
                    </a:lnB>
                    <a:noFill/>
                  </a:tcPr>
                </a:tc>
                <a:tc>
                  <a:txBody>
                    <a:bodyPr/>
                    <a:lstStyle/>
                    <a:p>
                      <a:pPr>
                        <a:buNone/>
                      </a:pPr>
                      <a:r>
                        <a:rPr lang="en-US" sz="1600" i="0" dirty="0">
                          <a:latin typeface="Times New Roman" panose="02020603050405020304" pitchFamily="18" charset="0"/>
                          <a:cs typeface="Times New Roman" panose="02020603050405020304" pitchFamily="18" charset="0"/>
                        </a:rPr>
                        <a:t>ML-based system predicting multiple diseases using structured input data.</a:t>
                      </a:r>
                    </a:p>
                  </a:txBody>
                  <a:tcPr marL="34141" marR="34141" marT="17071" marB="17071" anchor="ctr">
                    <a:lnL>
                      <a:noFill/>
                    </a:lnL>
                    <a:lnR>
                      <a:noFill/>
                    </a:lnR>
                    <a:lnT>
                      <a:noFill/>
                    </a:lnT>
                    <a:lnB>
                      <a:noFill/>
                    </a:lnB>
                    <a:noFill/>
                  </a:tcPr>
                </a:tc>
                <a:tc>
                  <a:txBody>
                    <a:bodyPr/>
                    <a:lstStyle/>
                    <a:p>
                      <a:pPr>
                        <a:buNone/>
                      </a:pPr>
                      <a:r>
                        <a:rPr lang="en-US" sz="1600" i="0" dirty="0">
                          <a:latin typeface="Times New Roman" panose="02020603050405020304" pitchFamily="18" charset="0"/>
                          <a:cs typeface="Times New Roman" panose="02020603050405020304" pitchFamily="18" charset="0"/>
                        </a:rPr>
                        <a:t>Limited feature set; no side-effect prediction or risk modeling.</a:t>
                      </a:r>
                    </a:p>
                  </a:txBody>
                  <a:tcPr anchor="ctr">
                    <a:lnL>
                      <a:noFill/>
                    </a:lnL>
                    <a:lnR>
                      <a:noFill/>
                    </a:lnR>
                    <a:lnT>
                      <a:noFill/>
                    </a:lnT>
                    <a:lnB>
                      <a:noFill/>
                    </a:lnB>
                    <a:noFill/>
                  </a:tcPr>
                </a:tc>
                <a:extLst>
                  <a:ext uri="{0D108BD9-81ED-4DB2-BD59-A6C34878D82A}">
                    <a16:rowId xmlns:a16="http://schemas.microsoft.com/office/drawing/2014/main" val="1994420130"/>
                  </a:ext>
                </a:extLst>
              </a:tr>
              <a:tr h="1066800">
                <a:tc>
                  <a:txBody>
                    <a:bodyPr/>
                    <a:lstStyle/>
                    <a:p>
                      <a:pPr>
                        <a:buNone/>
                      </a:pPr>
                      <a:r>
                        <a:rPr lang="en-US" sz="1600" i="0" dirty="0">
                          <a:latin typeface="Times New Roman" panose="02020603050405020304" pitchFamily="18" charset="0"/>
                          <a:cs typeface="Times New Roman" panose="02020603050405020304" pitchFamily="18" charset="0"/>
                        </a:rPr>
                        <a:t>Din, F., KJMR – Multi-Disease Prediction Using Machine Learning Algorithms</a:t>
                      </a:r>
                    </a:p>
                  </a:txBody>
                  <a:tcPr marL="34141" marR="34141" marT="17071" marB="17071" anchor="ctr">
                    <a:lnL>
                      <a:noFill/>
                    </a:lnL>
                    <a:lnR>
                      <a:noFill/>
                    </a:lnR>
                    <a:lnT>
                      <a:noFill/>
                    </a:lnT>
                    <a:lnB>
                      <a:noFill/>
                    </a:lnB>
                    <a:noFill/>
                  </a:tcPr>
                </a:tc>
                <a:tc>
                  <a:txBody>
                    <a:bodyPr/>
                    <a:lstStyle/>
                    <a:p>
                      <a:pPr algn="ctr">
                        <a:buNone/>
                      </a:pPr>
                      <a:r>
                        <a:rPr lang="en-IN" sz="1600" i="0" dirty="0">
                          <a:latin typeface="Times New Roman" panose="02020603050405020304" pitchFamily="18" charset="0"/>
                          <a:cs typeface="Times New Roman" panose="02020603050405020304" pitchFamily="18" charset="0"/>
                        </a:rPr>
                        <a:t>2024</a:t>
                      </a:r>
                    </a:p>
                  </a:txBody>
                  <a:tcPr marL="34141" marR="34141" marT="17071" marB="17071" anchor="ctr">
                    <a:lnL>
                      <a:noFill/>
                    </a:lnL>
                    <a:lnR>
                      <a:noFill/>
                    </a:lnR>
                    <a:lnT>
                      <a:noFill/>
                    </a:lnT>
                    <a:lnB>
                      <a:noFill/>
                    </a:lnB>
                    <a:noFill/>
                  </a:tcPr>
                </a:tc>
                <a:tc>
                  <a:txBody>
                    <a:bodyPr/>
                    <a:lstStyle/>
                    <a:p>
                      <a:pPr algn="ctr">
                        <a:buNone/>
                      </a:pPr>
                      <a:r>
                        <a:rPr lang="en-IN" sz="1600" i="0" dirty="0">
                          <a:latin typeface="Times New Roman" panose="02020603050405020304" pitchFamily="18" charset="0"/>
                          <a:cs typeface="Times New Roman" panose="02020603050405020304" pitchFamily="18" charset="0"/>
                        </a:rPr>
                        <a:t>Objective 1</a:t>
                      </a:r>
                    </a:p>
                  </a:txBody>
                  <a:tcPr marL="34141" marR="34141" marT="17071" marB="17071" anchor="ctr">
                    <a:lnL>
                      <a:noFill/>
                    </a:lnL>
                    <a:lnR>
                      <a:noFill/>
                    </a:lnR>
                    <a:lnT>
                      <a:noFill/>
                    </a:lnT>
                    <a:lnB>
                      <a:noFill/>
                    </a:lnB>
                    <a:noFill/>
                  </a:tcPr>
                </a:tc>
                <a:tc>
                  <a:txBody>
                    <a:bodyPr/>
                    <a:lstStyle/>
                    <a:p>
                      <a:pPr>
                        <a:buNone/>
                      </a:pPr>
                      <a:r>
                        <a:rPr lang="en-IN" sz="1600" i="0" dirty="0">
                          <a:latin typeface="Times New Roman" panose="02020603050405020304" pitchFamily="18" charset="0"/>
                          <a:cs typeface="Times New Roman" panose="02020603050405020304" pitchFamily="18" charset="0"/>
                        </a:rPr>
                        <a:t>Compares multiple ML algorithms for multi-disease classification.</a:t>
                      </a:r>
                    </a:p>
                  </a:txBody>
                  <a:tcPr anchor="ctr">
                    <a:lnL>
                      <a:noFill/>
                    </a:lnL>
                    <a:lnR>
                      <a:noFill/>
                    </a:lnR>
                    <a:lnT>
                      <a:noFill/>
                    </a:lnT>
                    <a:lnB>
                      <a:noFill/>
                    </a:lnB>
                    <a:noFill/>
                  </a:tcPr>
                </a:tc>
                <a:tc>
                  <a:txBody>
                    <a:bodyPr/>
                    <a:lstStyle/>
                    <a:p>
                      <a:pPr>
                        <a:buNone/>
                      </a:pPr>
                      <a:r>
                        <a:rPr lang="en-US" sz="1600" i="0" dirty="0">
                          <a:latin typeface="Times New Roman" panose="02020603050405020304" pitchFamily="18" charset="0"/>
                          <a:cs typeface="Times New Roman" panose="02020603050405020304" pitchFamily="18" charset="0"/>
                        </a:rPr>
                        <a:t>Dataset imbalance not addressed; minimal clinical validation.</a:t>
                      </a:r>
                    </a:p>
                  </a:txBody>
                  <a:tcPr anchor="ctr">
                    <a:lnL>
                      <a:noFill/>
                    </a:lnL>
                    <a:lnR>
                      <a:noFill/>
                    </a:lnR>
                    <a:lnT>
                      <a:noFill/>
                    </a:lnT>
                    <a:lnB>
                      <a:noFill/>
                    </a:lnB>
                    <a:noFill/>
                  </a:tcPr>
                </a:tc>
                <a:extLst>
                  <a:ext uri="{0D108BD9-81ED-4DB2-BD59-A6C34878D82A}">
                    <a16:rowId xmlns:a16="http://schemas.microsoft.com/office/drawing/2014/main" val="3293329028"/>
                  </a:ext>
                </a:extLst>
              </a:tr>
              <a:tr h="1185058">
                <a:tc>
                  <a:txBody>
                    <a:bodyPr/>
                    <a:lstStyle/>
                    <a:p>
                      <a:pPr>
                        <a:buNone/>
                      </a:pPr>
                      <a:r>
                        <a:rPr lang="en-US" sz="1600" i="0" dirty="0">
                          <a:latin typeface="Times New Roman" panose="02020603050405020304" pitchFamily="18" charset="0"/>
                          <a:cs typeface="Times New Roman" panose="02020603050405020304" pitchFamily="18" charset="0"/>
                        </a:rPr>
                        <a:t>IJCRT – Multiple Disease Prediction Using Machine Learning</a:t>
                      </a:r>
                    </a:p>
                  </a:txBody>
                  <a:tcPr marL="34141" marR="34141" marT="17071" marB="17071" anchor="ctr">
                    <a:lnL>
                      <a:noFill/>
                    </a:lnL>
                    <a:lnR>
                      <a:noFill/>
                    </a:lnR>
                    <a:lnT>
                      <a:noFill/>
                    </a:lnT>
                    <a:lnB>
                      <a:noFill/>
                    </a:lnB>
                    <a:noFill/>
                  </a:tcPr>
                </a:tc>
                <a:tc>
                  <a:txBody>
                    <a:bodyPr/>
                    <a:lstStyle/>
                    <a:p>
                      <a:pPr algn="ctr">
                        <a:buNone/>
                      </a:pPr>
                      <a:r>
                        <a:rPr lang="en-IN" sz="1600" i="0" dirty="0">
                          <a:latin typeface="Times New Roman" panose="02020603050405020304" pitchFamily="18" charset="0"/>
                          <a:cs typeface="Times New Roman" panose="02020603050405020304" pitchFamily="18" charset="0"/>
                        </a:rPr>
                        <a:t>2024</a:t>
                      </a:r>
                    </a:p>
                  </a:txBody>
                  <a:tcPr marL="34141" marR="34141" marT="17071" marB="17071" anchor="ctr">
                    <a:lnL>
                      <a:noFill/>
                    </a:lnL>
                    <a:lnR>
                      <a:noFill/>
                    </a:lnR>
                    <a:lnT>
                      <a:noFill/>
                    </a:lnT>
                    <a:lnB>
                      <a:noFill/>
                    </a:lnB>
                    <a:noFill/>
                  </a:tcPr>
                </a:tc>
                <a:tc>
                  <a:txBody>
                    <a:bodyPr/>
                    <a:lstStyle/>
                    <a:p>
                      <a:pPr algn="ctr">
                        <a:buNone/>
                      </a:pPr>
                      <a:r>
                        <a:rPr lang="en-IN" sz="1600" i="0" dirty="0">
                          <a:latin typeface="Times New Roman" panose="02020603050405020304" pitchFamily="18" charset="0"/>
                          <a:cs typeface="Times New Roman" panose="02020603050405020304" pitchFamily="18" charset="0"/>
                        </a:rPr>
                        <a:t>Objective 1</a:t>
                      </a:r>
                    </a:p>
                  </a:txBody>
                  <a:tcPr marL="34141" marR="34141" marT="17071" marB="17071" anchor="ctr">
                    <a:lnL>
                      <a:noFill/>
                    </a:lnL>
                    <a:lnR>
                      <a:noFill/>
                    </a:lnR>
                    <a:lnT>
                      <a:noFill/>
                    </a:lnT>
                    <a:lnB>
                      <a:noFill/>
                    </a:lnB>
                    <a:noFill/>
                  </a:tcPr>
                </a:tc>
                <a:tc>
                  <a:txBody>
                    <a:bodyPr/>
                    <a:lstStyle/>
                    <a:p>
                      <a:pPr>
                        <a:buNone/>
                      </a:pPr>
                      <a:r>
                        <a:rPr lang="en-US" sz="1600" i="0" dirty="0">
                          <a:latin typeface="Times New Roman" panose="02020603050405020304" pitchFamily="18" charset="0"/>
                          <a:cs typeface="Times New Roman" panose="02020603050405020304" pitchFamily="18" charset="0"/>
                        </a:rPr>
                        <a:t>ML models applied to structured clinical/symptom data.</a:t>
                      </a:r>
                    </a:p>
                  </a:txBody>
                  <a:tcPr anchor="ctr">
                    <a:lnL>
                      <a:noFill/>
                    </a:lnL>
                    <a:lnR>
                      <a:noFill/>
                    </a:lnR>
                    <a:lnT>
                      <a:noFill/>
                    </a:lnT>
                    <a:lnB>
                      <a:noFill/>
                    </a:lnB>
                    <a:noFill/>
                  </a:tcPr>
                </a:tc>
                <a:tc>
                  <a:txBody>
                    <a:bodyPr/>
                    <a:lstStyle/>
                    <a:p>
                      <a:pPr>
                        <a:buNone/>
                      </a:pPr>
                      <a:r>
                        <a:rPr lang="en-US" sz="1600" i="0" dirty="0">
                          <a:latin typeface="Times New Roman" panose="02020603050405020304" pitchFamily="18" charset="0"/>
                          <a:cs typeface="Times New Roman" panose="02020603050405020304" pitchFamily="18" charset="0"/>
                        </a:rPr>
                        <a:t>Preprint; limited evaluation metrics, not tested on real-world data.</a:t>
                      </a:r>
                    </a:p>
                  </a:txBody>
                  <a:tcPr anchor="ctr">
                    <a:lnL>
                      <a:noFill/>
                    </a:lnL>
                    <a:lnR>
                      <a:noFill/>
                    </a:lnR>
                    <a:lnT>
                      <a:noFill/>
                    </a:lnT>
                    <a:lnB>
                      <a:noFill/>
                    </a:lnB>
                    <a:noFill/>
                  </a:tcPr>
                </a:tc>
                <a:extLst>
                  <a:ext uri="{0D108BD9-81ED-4DB2-BD59-A6C34878D82A}">
                    <a16:rowId xmlns:a16="http://schemas.microsoft.com/office/drawing/2014/main" val="4182069106"/>
                  </a:ext>
                </a:extLst>
              </a:tr>
              <a:tr h="801796">
                <a:tc>
                  <a:txBody>
                    <a:bodyPr/>
                    <a:lstStyle/>
                    <a:p>
                      <a:pPr>
                        <a:buNone/>
                      </a:pPr>
                      <a:r>
                        <a:rPr lang="en-US" sz="1600" i="0" dirty="0">
                          <a:latin typeface="Times New Roman" panose="02020603050405020304" pitchFamily="18" charset="0"/>
                          <a:cs typeface="Times New Roman" panose="02020603050405020304" pitchFamily="18" charset="0"/>
                        </a:rPr>
                        <a:t>Nghiem, N. et al., “ML-Based Prediction of Diabetes Complications,” BMC Med. Inf. &amp; Dec. Making</a:t>
                      </a:r>
                    </a:p>
                  </a:txBody>
                  <a:tcPr marL="34141" marR="34141" marT="17071" marB="17071" anchor="ctr">
                    <a:lnL>
                      <a:noFill/>
                    </a:lnL>
                    <a:lnR>
                      <a:noFill/>
                    </a:lnR>
                    <a:lnT>
                      <a:noFill/>
                    </a:lnT>
                    <a:lnB>
                      <a:noFill/>
                    </a:lnB>
                    <a:noFill/>
                  </a:tcPr>
                </a:tc>
                <a:tc>
                  <a:txBody>
                    <a:bodyPr/>
                    <a:lstStyle/>
                    <a:p>
                      <a:pPr algn="ctr">
                        <a:buNone/>
                      </a:pPr>
                      <a:r>
                        <a:rPr lang="en-IN" sz="1600" i="0" dirty="0">
                          <a:latin typeface="Times New Roman" panose="02020603050405020304" pitchFamily="18" charset="0"/>
                          <a:cs typeface="Times New Roman" panose="02020603050405020304" pitchFamily="18" charset="0"/>
                        </a:rPr>
                        <a:t>2024</a:t>
                      </a:r>
                    </a:p>
                  </a:txBody>
                  <a:tcPr marL="34141" marR="34141" marT="17071" marB="17071" anchor="ctr">
                    <a:lnL>
                      <a:noFill/>
                    </a:lnL>
                    <a:lnR>
                      <a:noFill/>
                    </a:lnR>
                    <a:lnT>
                      <a:noFill/>
                    </a:lnT>
                    <a:lnB>
                      <a:noFill/>
                    </a:lnB>
                    <a:noFill/>
                  </a:tcPr>
                </a:tc>
                <a:tc>
                  <a:txBody>
                    <a:bodyPr/>
                    <a:lstStyle/>
                    <a:p>
                      <a:pPr algn="ctr">
                        <a:buNone/>
                      </a:pPr>
                      <a:r>
                        <a:rPr lang="en-IN" sz="1600" i="0" dirty="0">
                          <a:latin typeface="Times New Roman" panose="02020603050405020304" pitchFamily="18" charset="0"/>
                          <a:cs typeface="Times New Roman" panose="02020603050405020304" pitchFamily="18" charset="0"/>
                        </a:rPr>
                        <a:t>Objective 2</a:t>
                      </a:r>
                    </a:p>
                  </a:txBody>
                  <a:tcPr marL="34141" marR="34141" marT="17071" marB="17071" anchor="ctr">
                    <a:lnL>
                      <a:noFill/>
                    </a:lnL>
                    <a:lnR>
                      <a:noFill/>
                    </a:lnR>
                    <a:lnT>
                      <a:noFill/>
                    </a:lnT>
                    <a:lnB>
                      <a:noFill/>
                    </a:lnB>
                    <a:noFill/>
                  </a:tcPr>
                </a:tc>
                <a:tc>
                  <a:txBody>
                    <a:bodyPr/>
                    <a:lstStyle/>
                    <a:p>
                      <a:pPr>
                        <a:buNone/>
                      </a:pPr>
                      <a:r>
                        <a:rPr lang="en-IN" sz="1600" i="0" dirty="0">
                          <a:latin typeface="Times New Roman" panose="02020603050405020304" pitchFamily="18" charset="0"/>
                          <a:cs typeface="Times New Roman" panose="02020603050405020304" pitchFamily="18" charset="0"/>
                        </a:rPr>
                        <a:t>Predicts diabetes complications using ML + socio-administrative data.</a:t>
                      </a:r>
                    </a:p>
                  </a:txBody>
                  <a:tcPr anchor="ctr">
                    <a:lnL>
                      <a:noFill/>
                    </a:lnL>
                    <a:lnR>
                      <a:noFill/>
                    </a:lnR>
                    <a:lnT>
                      <a:noFill/>
                    </a:lnT>
                    <a:lnB>
                      <a:noFill/>
                    </a:lnB>
                    <a:noFill/>
                  </a:tcPr>
                </a:tc>
                <a:tc>
                  <a:txBody>
                    <a:bodyPr/>
                    <a:lstStyle/>
                    <a:p>
                      <a:pPr>
                        <a:buNone/>
                      </a:pPr>
                      <a:r>
                        <a:rPr lang="en-US" sz="1600" i="0" dirty="0">
                          <a:latin typeface="Times New Roman" panose="02020603050405020304" pitchFamily="18" charset="0"/>
                          <a:cs typeface="Times New Roman" panose="02020603050405020304" pitchFamily="18" charset="0"/>
                        </a:rPr>
                        <a:t>Focused only on diabetes; not generalized to multi-disease settings.</a:t>
                      </a:r>
                    </a:p>
                  </a:txBody>
                  <a:tcPr anchor="ctr">
                    <a:lnL>
                      <a:noFill/>
                    </a:lnL>
                    <a:lnR>
                      <a:noFill/>
                    </a:lnR>
                    <a:lnT>
                      <a:noFill/>
                    </a:lnT>
                    <a:lnB>
                      <a:noFill/>
                    </a:lnB>
                    <a:noFill/>
                  </a:tcPr>
                </a:tc>
                <a:extLst>
                  <a:ext uri="{0D108BD9-81ED-4DB2-BD59-A6C34878D82A}">
                    <a16:rowId xmlns:a16="http://schemas.microsoft.com/office/drawing/2014/main" val="211566004"/>
                  </a:ext>
                </a:extLst>
              </a:tr>
              <a:tr h="484683">
                <a:tc>
                  <a:txBody>
                    <a:bodyPr/>
                    <a:lstStyle/>
                    <a:p>
                      <a:pPr>
                        <a:buNone/>
                      </a:pPr>
                      <a:endParaRPr lang="en-US" sz="1600" i="0" dirty="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tc>
                  <a:txBody>
                    <a:bodyPr/>
                    <a:lstStyle/>
                    <a:p>
                      <a:pPr>
                        <a:buNone/>
                      </a:pPr>
                      <a:endParaRPr lang="en-IN" sz="1600" i="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tc>
                  <a:txBody>
                    <a:bodyPr/>
                    <a:lstStyle/>
                    <a:p>
                      <a:pPr>
                        <a:buNone/>
                      </a:pPr>
                      <a:endParaRPr lang="en-IN" sz="1600" i="0" dirty="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tc>
                  <a:txBody>
                    <a:bodyPr/>
                    <a:lstStyle/>
                    <a:p>
                      <a:pPr>
                        <a:buNone/>
                      </a:pPr>
                      <a:endParaRPr lang="en-US" sz="1600" i="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tc>
                  <a:txBody>
                    <a:bodyPr/>
                    <a:lstStyle/>
                    <a:p>
                      <a:pPr>
                        <a:buNone/>
                      </a:pPr>
                      <a:endParaRPr lang="en-US" sz="1600" i="0" dirty="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extLst>
                  <a:ext uri="{0D108BD9-81ED-4DB2-BD59-A6C34878D82A}">
                    <a16:rowId xmlns:a16="http://schemas.microsoft.com/office/drawing/2014/main" val="1171927590"/>
                  </a:ext>
                </a:extLst>
              </a:tr>
              <a:tr h="426522">
                <a:tc>
                  <a:txBody>
                    <a:bodyPr/>
                    <a:lstStyle/>
                    <a:p>
                      <a:pPr>
                        <a:buNone/>
                      </a:pPr>
                      <a:endParaRPr lang="en-US" sz="1600" i="0" dirty="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tc>
                  <a:txBody>
                    <a:bodyPr/>
                    <a:lstStyle/>
                    <a:p>
                      <a:pPr>
                        <a:buNone/>
                      </a:pPr>
                      <a:endParaRPr lang="en-IN" sz="1600" i="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tc>
                  <a:txBody>
                    <a:bodyPr/>
                    <a:lstStyle/>
                    <a:p>
                      <a:pPr>
                        <a:buNone/>
                      </a:pPr>
                      <a:endParaRPr lang="en-IN" sz="1600" i="0" dirty="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tc>
                  <a:txBody>
                    <a:bodyPr/>
                    <a:lstStyle/>
                    <a:p>
                      <a:pPr>
                        <a:buNone/>
                      </a:pPr>
                      <a:endParaRPr lang="en-US" sz="1600" i="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tc>
                  <a:txBody>
                    <a:bodyPr/>
                    <a:lstStyle/>
                    <a:p>
                      <a:pPr>
                        <a:buNone/>
                      </a:pPr>
                      <a:endParaRPr lang="en-US" sz="1600" i="0" dirty="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extLst>
                  <a:ext uri="{0D108BD9-81ED-4DB2-BD59-A6C34878D82A}">
                    <a16:rowId xmlns:a16="http://schemas.microsoft.com/office/drawing/2014/main" val="4650955"/>
                  </a:ext>
                </a:extLst>
              </a:tr>
              <a:tr h="223581">
                <a:tc>
                  <a:txBody>
                    <a:bodyPr/>
                    <a:lstStyle/>
                    <a:p>
                      <a:pPr>
                        <a:buNone/>
                      </a:pPr>
                      <a:endParaRPr lang="en-US" sz="1600" i="0" dirty="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tc>
                  <a:txBody>
                    <a:bodyPr/>
                    <a:lstStyle/>
                    <a:p>
                      <a:pPr>
                        <a:buNone/>
                      </a:pPr>
                      <a:endParaRPr lang="en-IN" sz="1600" i="0" dirty="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tc>
                  <a:txBody>
                    <a:bodyPr/>
                    <a:lstStyle/>
                    <a:p>
                      <a:pPr>
                        <a:buNone/>
                      </a:pPr>
                      <a:endParaRPr lang="en-IN" sz="1600" i="0" dirty="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tc>
                  <a:txBody>
                    <a:bodyPr/>
                    <a:lstStyle/>
                    <a:p>
                      <a:pPr>
                        <a:buNone/>
                      </a:pPr>
                      <a:endParaRPr lang="en-US" sz="1600" i="0" dirty="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tc>
                  <a:txBody>
                    <a:bodyPr/>
                    <a:lstStyle/>
                    <a:p>
                      <a:pPr>
                        <a:buNone/>
                      </a:pPr>
                      <a:endParaRPr lang="en-US" sz="1600" i="0" dirty="0">
                        <a:latin typeface="Times New Roman" panose="02020603050405020304" pitchFamily="18" charset="0"/>
                        <a:cs typeface="Times New Roman" panose="02020603050405020304" pitchFamily="18" charset="0"/>
                      </a:endParaRPr>
                    </a:p>
                  </a:txBody>
                  <a:tcPr marL="34141" marR="34141" marT="17071" marB="17071" anchor="ctr">
                    <a:lnL>
                      <a:noFill/>
                    </a:lnL>
                    <a:lnR>
                      <a:noFill/>
                    </a:lnR>
                    <a:lnT>
                      <a:noFill/>
                    </a:lnT>
                    <a:lnB>
                      <a:noFill/>
                    </a:lnB>
                    <a:noFill/>
                  </a:tcPr>
                </a:tc>
                <a:extLst>
                  <a:ext uri="{0D108BD9-81ED-4DB2-BD59-A6C34878D82A}">
                    <a16:rowId xmlns:a16="http://schemas.microsoft.com/office/drawing/2014/main" val="3360999817"/>
                  </a:ext>
                </a:extLst>
              </a:tr>
            </a:tbl>
          </a:graphicData>
        </a:graphic>
      </p:graphicFrame>
      <p:sp>
        <p:nvSpPr>
          <p:cNvPr id="12" name="Rectangle 11">
            <a:extLst>
              <a:ext uri="{FF2B5EF4-FFF2-40B4-BE49-F238E27FC236}">
                <a16:creationId xmlns:a16="http://schemas.microsoft.com/office/drawing/2014/main" id="{A7940186-BCB4-6190-DC21-0E0C832D75F7}"/>
              </a:ext>
            </a:extLst>
          </p:cNvPr>
          <p:cNvSpPr/>
          <p:nvPr/>
        </p:nvSpPr>
        <p:spPr>
          <a:xfrm>
            <a:off x="361118" y="1131450"/>
            <a:ext cx="11164961" cy="52693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Connector 13">
            <a:extLst>
              <a:ext uri="{FF2B5EF4-FFF2-40B4-BE49-F238E27FC236}">
                <a16:creationId xmlns:a16="http://schemas.microsoft.com/office/drawing/2014/main" id="{FDEF96FB-F1FE-7D79-FBCA-763DFD2E86B8}"/>
              </a:ext>
            </a:extLst>
          </p:cNvPr>
          <p:cNvCxnSpPr>
            <a:cxnSpLocks/>
          </p:cNvCxnSpPr>
          <p:nvPr/>
        </p:nvCxnSpPr>
        <p:spPr>
          <a:xfrm>
            <a:off x="361118" y="1600200"/>
            <a:ext cx="111649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3DB7121-0172-3AFE-E1A0-D36435BF94E9}"/>
              </a:ext>
            </a:extLst>
          </p:cNvPr>
          <p:cNvCxnSpPr>
            <a:cxnSpLocks/>
          </p:cNvCxnSpPr>
          <p:nvPr/>
        </p:nvCxnSpPr>
        <p:spPr>
          <a:xfrm>
            <a:off x="2971800" y="1131450"/>
            <a:ext cx="0" cy="52693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F57E11D-26A9-FAD3-D1C0-39DE25055D6E}"/>
              </a:ext>
            </a:extLst>
          </p:cNvPr>
          <p:cNvCxnSpPr>
            <a:cxnSpLocks/>
          </p:cNvCxnSpPr>
          <p:nvPr/>
        </p:nvCxnSpPr>
        <p:spPr>
          <a:xfrm>
            <a:off x="4267200" y="1131450"/>
            <a:ext cx="0" cy="52693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97BE240-FEE0-3B61-53D2-737C8BA7219F}"/>
              </a:ext>
            </a:extLst>
          </p:cNvPr>
          <p:cNvCxnSpPr>
            <a:cxnSpLocks/>
          </p:cNvCxnSpPr>
          <p:nvPr/>
        </p:nvCxnSpPr>
        <p:spPr>
          <a:xfrm>
            <a:off x="6248400" y="1131450"/>
            <a:ext cx="0" cy="52693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E493EDC-7E2B-AB3A-3C6A-9AF839DBD3CC}"/>
              </a:ext>
            </a:extLst>
          </p:cNvPr>
          <p:cNvCxnSpPr>
            <a:cxnSpLocks/>
          </p:cNvCxnSpPr>
          <p:nvPr/>
        </p:nvCxnSpPr>
        <p:spPr>
          <a:xfrm>
            <a:off x="9067800" y="1131450"/>
            <a:ext cx="0" cy="52693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A910122D-E8DF-C382-3170-D47B5768E9B5}"/>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30" name="Table 29">
            <a:extLst>
              <a:ext uri="{FF2B5EF4-FFF2-40B4-BE49-F238E27FC236}">
                <a16:creationId xmlns:a16="http://schemas.microsoft.com/office/drawing/2014/main" id="{F9EA0E8E-805D-9E93-2298-65C7DB002542}"/>
              </a:ext>
            </a:extLst>
          </p:cNvPr>
          <p:cNvGraphicFramePr>
            <a:graphicFrameLocks noGrp="1"/>
          </p:cNvGraphicFramePr>
          <p:nvPr>
            <p:extLst>
              <p:ext uri="{D42A27DB-BD31-4B8C-83A1-F6EECF244321}">
                <p14:modId xmlns:p14="http://schemas.microsoft.com/office/powerpoint/2010/main" val="1068483529"/>
              </p:ext>
            </p:extLst>
          </p:nvPr>
        </p:nvGraphicFramePr>
        <p:xfrm>
          <a:off x="0" y="6651040"/>
          <a:ext cx="12192000"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6">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0">
                <a:tc>
                  <a:txBody>
                    <a:bodyPr/>
                    <a:lstStyle/>
                    <a:p>
                      <a:r>
                        <a:rPr lang="en-US" sz="16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4</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IN" sz="1600" dirty="0">
                          <a:solidFill>
                            <a:schemeClr val="tx1"/>
                          </a:solidFill>
                          <a:latin typeface="Times New Roman" panose="02020603050405020304" pitchFamily="18" charset="0"/>
                          <a:cs typeface="Times New Roman" panose="02020603050405020304" pitchFamily="18" charset="0"/>
                        </a:rPr>
                        <a:t>07</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b="0" strike="noStrike" spc="-1" dirty="0">
                <a:solidFill>
                  <a:srgbClr val="FFFFFF"/>
                </a:solidFill>
                <a:latin typeface="Times New Roman" panose="02020603050405020304"/>
              </a:rPr>
              <a:t> </a:t>
            </a:r>
            <a:r>
              <a:rPr lang="en-IN" sz="4400" spc="-1" dirty="0">
                <a:solidFill>
                  <a:srgbClr val="FFFFFF"/>
                </a:solidFill>
                <a:latin typeface="Times New Roman" panose="02020603050405020304"/>
              </a:rPr>
              <a:t>Proposed System</a:t>
            </a:r>
            <a:endParaRPr lang="en-US" sz="4400" b="0" strike="noStrike" spc="-1" dirty="0">
              <a:solidFill>
                <a:srgbClr val="000000"/>
              </a:solidFill>
              <a:latin typeface="Calibri" panose="020F0502020204030204"/>
            </a:endParaRPr>
          </a:p>
        </p:txBody>
      </p:sp>
      <p:sp>
        <p:nvSpPr>
          <p:cNvPr id="112" name="PlaceHolder 2"/>
          <p:cNvSpPr>
            <a:spLocks noGrp="1"/>
          </p:cNvSpPr>
          <p:nvPr>
            <p:ph/>
          </p:nvPr>
        </p:nvSpPr>
        <p:spPr>
          <a:xfrm>
            <a:off x="199440" y="1097280"/>
            <a:ext cx="11778840" cy="5394600"/>
          </a:xfrm>
          <a:prstGeom prst="rect">
            <a:avLst/>
          </a:prstGeom>
          <a:noFill/>
          <a:ln w="0">
            <a:noFill/>
          </a:ln>
        </p:spPr>
        <p:txBody>
          <a:bodyPr anchor="t">
            <a:no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proposed system develops a symptom-based multi-disease prediction model that can identify multiple diseases within a single platform, improving the efficiency of disease diagnosis.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implements and compares multiple machine learning algorithms such as Logistic Regression, Support Vector Machine (SVM), Decision Tree, Random Forest, XGBoost, AdaBoost, and Artificial Neural Networks to achieve better prediction performance.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evaluates model performance using metrics such as accuracy, precision, recall, and F1-score to identify the most reliable model for disease prediction.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allows users to enter symptoms as input and generates disease predictions automatically, providing a quick and efficient approach for preliminary health analysis.</a:t>
            </a:r>
            <a:endParaRPr lang="en-IN" sz="2400" dirty="0">
              <a:latin typeface="Times New Roman" panose="02020603050405020304" pitchFamily="18" charset="0"/>
              <a:cs typeface="Times New Roman" panose="02020603050405020304" pitchFamily="18" charset="0"/>
            </a:endParaRPr>
          </a:p>
          <a:p>
            <a:pPr marL="577850" indent="-577850" algn="just">
              <a:lnSpc>
                <a:spcPct val="90000"/>
              </a:lnSpc>
              <a:spcBef>
                <a:spcPts val="1000"/>
              </a:spcBef>
              <a:tabLst>
                <a:tab pos="0" algn="l"/>
              </a:tabLst>
            </a:pPr>
            <a:endParaRPr lang="en-US" sz="2400"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C9CD97ED-64A4-B702-9821-E37911EAA63F}"/>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E086CF3E-6B6D-775F-2069-259F18017EF7}"/>
              </a:ext>
            </a:extLst>
          </p:cNvPr>
          <p:cNvGraphicFramePr>
            <a:graphicFrameLocks noGrp="1"/>
          </p:cNvGraphicFramePr>
          <p:nvPr>
            <p:extLst>
              <p:ext uri="{D42A27DB-BD31-4B8C-83A1-F6EECF244321}">
                <p14:modId xmlns:p14="http://schemas.microsoft.com/office/powerpoint/2010/main" val="1769675444"/>
              </p:ext>
            </p:extLst>
          </p:nvPr>
        </p:nvGraphicFramePr>
        <p:xfrm>
          <a:off x="0" y="6651040"/>
          <a:ext cx="12192000"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6">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0">
                <a:tc>
                  <a:txBody>
                    <a:bodyPr/>
                    <a:lstStyle/>
                    <a:p>
                      <a:r>
                        <a:rPr lang="en-US" sz="16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4</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IN" sz="1600" dirty="0">
                          <a:solidFill>
                            <a:schemeClr val="tx1"/>
                          </a:solidFill>
                          <a:latin typeface="Times New Roman" panose="02020603050405020304" pitchFamily="18" charset="0"/>
                          <a:cs typeface="Times New Roman" panose="02020603050405020304" pitchFamily="18" charset="0"/>
                        </a:rPr>
                        <a:t>09</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F1409-259C-2CC9-B19F-99380DE0DD26}"/>
            </a:ext>
          </a:extLst>
        </p:cNvPr>
        <p:cNvGrpSpPr/>
        <p:nvPr/>
      </p:nvGrpSpPr>
      <p:grpSpPr>
        <a:xfrm>
          <a:off x="0" y="0"/>
          <a:ext cx="0" cy="0"/>
          <a:chOff x="0" y="0"/>
          <a:chExt cx="0" cy="0"/>
        </a:xfrm>
      </p:grpSpPr>
      <p:sp>
        <p:nvSpPr>
          <p:cNvPr id="111" name="PlaceHolder 1">
            <a:extLst>
              <a:ext uri="{FF2B5EF4-FFF2-40B4-BE49-F238E27FC236}">
                <a16:creationId xmlns:a16="http://schemas.microsoft.com/office/drawing/2014/main" id="{B2B002EB-DF3C-CF5D-66CD-6AB566563999}"/>
              </a:ext>
            </a:extLst>
          </p:cNvPr>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b="0" strike="noStrike" spc="-1" dirty="0">
                <a:solidFill>
                  <a:srgbClr val="FFFFFF"/>
                </a:solidFill>
                <a:latin typeface="Times New Roman" panose="02020603050405020304"/>
              </a:rPr>
              <a:t> Reference</a:t>
            </a:r>
            <a:r>
              <a:rPr lang="en-US" sz="4400" b="0" strike="noStrike" spc="-1" dirty="0">
                <a:solidFill>
                  <a:srgbClr val="FFFFFF"/>
                </a:solidFill>
                <a:latin typeface="Times New Roman" panose="02020603050405020304"/>
              </a:rPr>
              <a:t>s</a:t>
            </a:r>
            <a:endParaRPr lang="en-US" sz="4400" b="0" strike="noStrike" spc="-1" dirty="0">
              <a:solidFill>
                <a:srgbClr val="000000"/>
              </a:solidFill>
              <a:latin typeface="Calibri" panose="020F0502020204030204"/>
            </a:endParaRPr>
          </a:p>
        </p:txBody>
      </p:sp>
      <p:sp>
        <p:nvSpPr>
          <p:cNvPr id="112" name="PlaceHolder 2">
            <a:extLst>
              <a:ext uri="{FF2B5EF4-FFF2-40B4-BE49-F238E27FC236}">
                <a16:creationId xmlns:a16="http://schemas.microsoft.com/office/drawing/2014/main" id="{82F2C607-432D-BE05-2847-DF8C7D724BCE}"/>
              </a:ext>
            </a:extLst>
          </p:cNvPr>
          <p:cNvSpPr>
            <a:spLocks noGrp="1"/>
          </p:cNvSpPr>
          <p:nvPr>
            <p:ph/>
          </p:nvPr>
        </p:nvSpPr>
        <p:spPr>
          <a:xfrm>
            <a:off x="199440" y="1097280"/>
            <a:ext cx="11778840" cy="5394600"/>
          </a:xfrm>
          <a:prstGeom prst="rect">
            <a:avLst/>
          </a:prstGeom>
          <a:noFill/>
          <a:ln w="0">
            <a:noFill/>
          </a:ln>
        </p:spPr>
        <p:txBody>
          <a:bodyPr anchor="t">
            <a:no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[1] S. Kumar &amp; N. Khan, “Machine Learning-Based Multiple Disease Prediction System,” </a:t>
            </a:r>
            <a:r>
              <a:rPr lang="en-US" sz="2200" i="1" dirty="0">
                <a:latin typeface="Times New Roman" panose="02020603050405020304" pitchFamily="18" charset="0"/>
                <a:cs typeface="Times New Roman" panose="02020603050405020304" pitchFamily="18" charset="0"/>
              </a:rPr>
              <a:t>International Journal of Trend in Scientific Research and Development (IJTSRD)</a:t>
            </a:r>
            <a:r>
              <a:rPr lang="en-US" sz="2200" dirty="0">
                <a:latin typeface="Times New Roman" panose="02020603050405020304" pitchFamily="18" charset="0"/>
                <a:cs typeface="Times New Roman" panose="02020603050405020304" pitchFamily="18" charset="0"/>
              </a:rPr>
              <a:t>, vol. 9, no. 3, pp. 468–472, 2025.</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[2] B. Ramesh, “Feasible Prediction of Multiple Diseases using Machine Learning,” </a:t>
            </a:r>
            <a:r>
              <a:rPr lang="en-US" sz="2200" i="1" dirty="0">
                <a:latin typeface="Times New Roman" panose="02020603050405020304" pitchFamily="18" charset="0"/>
                <a:cs typeface="Times New Roman" panose="02020603050405020304" pitchFamily="18" charset="0"/>
              </a:rPr>
              <a:t>E3S Web of Conferences (ICMPC 2023)</a:t>
            </a:r>
            <a:r>
              <a:rPr lang="en-US" sz="2200" dirty="0">
                <a:latin typeface="Times New Roman" panose="02020603050405020304" pitchFamily="18" charset="0"/>
                <a:cs typeface="Times New Roman" panose="02020603050405020304" pitchFamily="18" charset="0"/>
              </a:rPr>
              <a:t>, 2023.</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[3] F. Din, “Multi-Disease Prediction Using Machine Learning Algorithms,” </a:t>
            </a:r>
            <a:r>
              <a:rPr lang="en-US" sz="2200" i="1" dirty="0">
                <a:latin typeface="Times New Roman" panose="02020603050405020304" pitchFamily="18" charset="0"/>
                <a:cs typeface="Times New Roman" panose="02020603050405020304" pitchFamily="18" charset="0"/>
              </a:rPr>
              <a:t>KJMR (Khyber Journal of Medical Research)</a:t>
            </a:r>
            <a:r>
              <a:rPr lang="en-US" sz="2200" dirty="0">
                <a:latin typeface="Times New Roman" panose="02020603050405020304" pitchFamily="18" charset="0"/>
                <a:cs typeface="Times New Roman" panose="02020603050405020304" pitchFamily="18" charset="0"/>
              </a:rPr>
              <a:t>, 2024.</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[4] “Multiple Disease Prediction Application using Machine Learning,” </a:t>
            </a:r>
            <a:r>
              <a:rPr lang="en-US" sz="2200" i="1" dirty="0">
                <a:latin typeface="Times New Roman" panose="02020603050405020304" pitchFamily="18" charset="0"/>
                <a:cs typeface="Times New Roman" panose="02020603050405020304" pitchFamily="18" charset="0"/>
              </a:rPr>
              <a:t>TIJER – The International Journal of Engineering Research</a:t>
            </a:r>
            <a:r>
              <a:rPr lang="en-US" sz="2200" dirty="0">
                <a:latin typeface="Times New Roman" panose="02020603050405020304" pitchFamily="18" charset="0"/>
                <a:cs typeface="Times New Roman" panose="02020603050405020304" pitchFamily="18" charset="0"/>
              </a:rPr>
              <a:t>, vol. 11, issue 11, Nov. 2024.</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[5] “Multiple Disease Prediction Using Machine Learning,” </a:t>
            </a:r>
            <a:r>
              <a:rPr lang="en-US" sz="2200" i="1" dirty="0">
                <a:latin typeface="Times New Roman" panose="02020603050405020304" pitchFamily="18" charset="0"/>
                <a:cs typeface="Times New Roman" panose="02020603050405020304" pitchFamily="18" charset="0"/>
              </a:rPr>
              <a:t>IJCRT (conference/journal preprint)</a:t>
            </a:r>
            <a:r>
              <a:rPr lang="en-US" sz="2200" dirty="0">
                <a:latin typeface="Times New Roman" panose="02020603050405020304" pitchFamily="18" charset="0"/>
                <a:cs typeface="Times New Roman" panose="02020603050405020304" pitchFamily="18" charset="0"/>
              </a:rPr>
              <a:t>, 2024.</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[6] “Machine Learning Based Multiple Disease Prediction System,” </a:t>
            </a:r>
            <a:r>
              <a:rPr lang="en-US" sz="2200" i="1" dirty="0">
                <a:latin typeface="Times New Roman" panose="02020603050405020304" pitchFamily="18" charset="0"/>
                <a:cs typeface="Times New Roman" panose="02020603050405020304" pitchFamily="18" charset="0"/>
              </a:rPr>
              <a:t>IJARIIE (International Journal of Advance Research, Ideas and Innovations in Technology)</a:t>
            </a:r>
            <a:r>
              <a:rPr lang="en-US" sz="2200" dirty="0">
                <a:latin typeface="Times New Roman" panose="02020603050405020304" pitchFamily="18" charset="0"/>
                <a:cs typeface="Times New Roman" panose="02020603050405020304" pitchFamily="18" charset="0"/>
              </a:rPr>
              <a:t>, 2023.</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[7] N. Nghiem, N. Wilson, J. Krebs et al., “Predicting the Risk of Diabetes Complications Using Machine Learning,” </a:t>
            </a:r>
            <a:r>
              <a:rPr lang="en-US" sz="2200" i="1" dirty="0">
                <a:latin typeface="Times New Roman" panose="02020603050405020304" pitchFamily="18" charset="0"/>
                <a:cs typeface="Times New Roman" panose="02020603050405020304" pitchFamily="18" charset="0"/>
              </a:rPr>
              <a:t>BMC Medical Informatics and Decision Making</a:t>
            </a:r>
            <a:r>
              <a:rPr lang="en-US" sz="2200" dirty="0">
                <a:latin typeface="Times New Roman" panose="02020603050405020304" pitchFamily="18" charset="0"/>
                <a:cs typeface="Times New Roman" panose="02020603050405020304" pitchFamily="18" charset="0"/>
              </a:rPr>
              <a:t>, vol. 24, article 274, 2024.</a:t>
            </a:r>
            <a:endParaRPr lang="en-US" sz="2200" strike="noStrike" spc="-1" dirty="0">
              <a:solidFill>
                <a:srgbClr val="000000"/>
              </a:solidFill>
              <a:latin typeface="Times New Roman" panose="02020603050405020304" pitchFamily="18" charset="0"/>
              <a:cs typeface="Times New Roman" panose="02020603050405020304" pitchFamily="18" charset="0"/>
            </a:endParaRPr>
          </a:p>
          <a:p>
            <a:pPr marL="577850" indent="-577850" algn="just">
              <a:lnSpc>
                <a:spcPct val="90000"/>
              </a:lnSpc>
              <a:spcBef>
                <a:spcPts val="1000"/>
              </a:spcBef>
              <a:tabLst>
                <a:tab pos="0" algn="l"/>
              </a:tabLst>
            </a:pPr>
            <a:endParaRPr lang="en-US" sz="2200"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EB8455C6-9D91-E58D-861F-F13904D8A633}"/>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4CCCE729-8551-C104-75E2-04FC7F8A8503}"/>
              </a:ext>
            </a:extLst>
          </p:cNvPr>
          <p:cNvGraphicFramePr>
            <a:graphicFrameLocks noGrp="1"/>
          </p:cNvGraphicFramePr>
          <p:nvPr/>
        </p:nvGraphicFramePr>
        <p:xfrm>
          <a:off x="0" y="6651040"/>
          <a:ext cx="12192000"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6">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0">
                <a:tc>
                  <a:txBody>
                    <a:bodyPr/>
                    <a:lstStyle/>
                    <a:p>
                      <a:r>
                        <a:rPr lang="en-US" sz="16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4</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IN" sz="1600" dirty="0">
                          <a:solidFill>
                            <a:schemeClr val="tx1"/>
                          </a:solidFill>
                          <a:latin typeface="Times New Roman" panose="02020603050405020304" pitchFamily="18" charset="0"/>
                          <a:cs typeface="Times New Roman" panose="02020603050405020304" pitchFamily="18" charset="0"/>
                        </a:rPr>
                        <a:t>09</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Tree>
    <p:extLst>
      <p:ext uri="{BB962C8B-B14F-4D97-AF65-F5344CB8AC3E}">
        <p14:creationId xmlns:p14="http://schemas.microsoft.com/office/powerpoint/2010/main" val="2844597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b="0" strike="noStrike" spc="-1" dirty="0">
                <a:solidFill>
                  <a:srgbClr val="FFFFFF"/>
                </a:solidFill>
                <a:latin typeface="Times New Roman" panose="02020603050405020304"/>
              </a:rPr>
              <a:t>Git Hub Dashboard</a:t>
            </a:r>
            <a:endParaRPr lang="en-US" sz="4400" b="0" strike="noStrike" spc="-1" dirty="0">
              <a:solidFill>
                <a:srgbClr val="000000"/>
              </a:solidFill>
              <a:latin typeface="Calibri" panose="020F0502020204030204"/>
            </a:endParaRPr>
          </a:p>
        </p:txBody>
      </p:sp>
      <p:sp>
        <p:nvSpPr>
          <p:cNvPr id="3" name="Text Box 2"/>
          <p:cNvSpPr txBox="1"/>
          <p:nvPr/>
        </p:nvSpPr>
        <p:spPr>
          <a:xfrm>
            <a:off x="838200" y="6248400"/>
            <a:ext cx="7924800" cy="295275"/>
          </a:xfrm>
          <a:prstGeom prst="rect">
            <a:avLst/>
          </a:prstGeom>
          <a:noFill/>
        </p:spPr>
        <p:txBody>
          <a:bodyPr wrap="square" rtlCol="0">
            <a:noAutofit/>
          </a:bodyPr>
          <a:lstStyle/>
          <a:p>
            <a:r>
              <a:rPr lang="en-US" dirty="0">
                <a:latin typeface="Times New Roman" panose="02020603050405020304" pitchFamily="18" charset="0"/>
                <a:cs typeface="Times New Roman" panose="02020603050405020304" pitchFamily="18" charset="0"/>
              </a:rPr>
              <a:t>Link: </a:t>
            </a:r>
            <a:r>
              <a:rPr lang="en-US" dirty="0">
                <a:latin typeface="Times New Roman" panose="02020603050405020304" pitchFamily="18" charset="0"/>
                <a:cs typeface="Times New Roman" panose="02020603050405020304" pitchFamily="18" charset="0"/>
                <a:hlinkClick r:id="rId2"/>
              </a:rPr>
              <a:t>https://github.com/MahithaYadav/CSE-2022-2026-Batch-B4</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470ECF4-7F84-8ED0-A74D-196A2A26F499}"/>
              </a:ext>
            </a:extLst>
          </p:cNvPr>
          <p:cNvPicPr>
            <a:picLocks noChangeAspect="1"/>
          </p:cNvPicPr>
          <p:nvPr/>
        </p:nvPicPr>
        <p:blipFill>
          <a:blip r:embed="rId3"/>
          <a:stretch>
            <a:fillRect/>
          </a:stretch>
        </p:blipFill>
        <p:spPr>
          <a:xfrm>
            <a:off x="533400" y="1066799"/>
            <a:ext cx="10981765" cy="5181601"/>
          </a:xfrm>
          <a:prstGeom prst="rect">
            <a:avLst/>
          </a:prstGeom>
        </p:spPr>
      </p:pic>
      <p:sp>
        <p:nvSpPr>
          <p:cNvPr id="5" name="Rectangle 4">
            <a:extLst>
              <a:ext uri="{FF2B5EF4-FFF2-40B4-BE49-F238E27FC236}">
                <a16:creationId xmlns:a16="http://schemas.microsoft.com/office/drawing/2014/main" id="{92F5065B-67C9-1ED4-C45B-56D0E82EAB2F}"/>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43E4AFFE-7AE1-069F-C33D-255430D5E30C}"/>
              </a:ext>
            </a:extLst>
          </p:cNvPr>
          <p:cNvGraphicFramePr>
            <a:graphicFrameLocks noGrp="1"/>
          </p:cNvGraphicFramePr>
          <p:nvPr>
            <p:extLst>
              <p:ext uri="{D42A27DB-BD31-4B8C-83A1-F6EECF244321}">
                <p14:modId xmlns:p14="http://schemas.microsoft.com/office/powerpoint/2010/main" val="2534650964"/>
              </p:ext>
            </p:extLst>
          </p:nvPr>
        </p:nvGraphicFramePr>
        <p:xfrm>
          <a:off x="0" y="6651040"/>
          <a:ext cx="12192000"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6">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0">
                <a:tc>
                  <a:txBody>
                    <a:bodyPr/>
                    <a:lstStyle/>
                    <a:p>
                      <a:r>
                        <a:rPr lang="en-US" sz="16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4</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1</a:t>
                      </a:r>
                      <a:r>
                        <a:rPr lang="en-IN" sz="1600" dirty="0">
                          <a:solidFill>
                            <a:schemeClr val="tx1"/>
                          </a:solidFill>
                          <a:latin typeface="Times New Roman" panose="02020603050405020304" pitchFamily="18" charset="0"/>
                          <a:cs typeface="Times New Roman" panose="02020603050405020304" pitchFamily="18" charset="0"/>
                        </a:rPr>
                        <a:t>0</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
          <p:cNvSpPr/>
          <p:nvPr/>
        </p:nvSpPr>
        <p:spPr>
          <a:xfrm>
            <a:off x="2632680" y="2375640"/>
            <a:ext cx="6848640" cy="16549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7000"/>
              </a:lnSpc>
              <a:spcAft>
                <a:spcPts val="800"/>
              </a:spcAft>
            </a:pPr>
            <a:r>
              <a:rPr lang="en-US" sz="9600" b="0" i="1" strike="noStrike" spc="-1" dirty="0">
                <a:solidFill>
                  <a:srgbClr val="FF6600"/>
                </a:solidFill>
                <a:latin typeface="Times New Roman" panose="02020603050405020304"/>
                <a:ea typeface="Calibri" panose="020F0502020204030204"/>
              </a:rPr>
              <a:t>Any Queries?</a:t>
            </a:r>
            <a:endParaRPr lang="en-IN" sz="9600" b="0" strike="noStrike" spc="-1" dirty="0">
              <a:latin typeface="Arial" panose="020B0604020202020204"/>
            </a:endParaRPr>
          </a:p>
        </p:txBody>
      </p:sp>
      <p:sp>
        <p:nvSpPr>
          <p:cNvPr id="2" name="Rectangle 1">
            <a:extLst>
              <a:ext uri="{FF2B5EF4-FFF2-40B4-BE49-F238E27FC236}">
                <a16:creationId xmlns:a16="http://schemas.microsoft.com/office/drawing/2014/main" id="{8F4AD1D1-4E1B-86FD-6137-E5470B1A46CD}"/>
              </a:ext>
            </a:extLst>
          </p:cNvPr>
          <p:cNvSpPr/>
          <p:nvPr/>
        </p:nvSpPr>
        <p:spPr>
          <a:xfrm>
            <a:off x="0" y="-11364"/>
            <a:ext cx="12192000" cy="251884"/>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Symptom-Based Multi-Disease Prediction System Using Machine Learning</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A1B2EB00-6034-7077-8E50-217A0F8FCE04}"/>
              </a:ext>
            </a:extLst>
          </p:cNvPr>
          <p:cNvGraphicFramePr>
            <a:graphicFrameLocks noGrp="1"/>
          </p:cNvGraphicFramePr>
          <p:nvPr>
            <p:extLst>
              <p:ext uri="{D42A27DB-BD31-4B8C-83A1-F6EECF244321}">
                <p14:modId xmlns:p14="http://schemas.microsoft.com/office/powerpoint/2010/main" val="1466720315"/>
              </p:ext>
            </p:extLst>
          </p:nvPr>
        </p:nvGraphicFramePr>
        <p:xfrm>
          <a:off x="0" y="6651040"/>
          <a:ext cx="12192000"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6">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0">
                <a:tc>
                  <a:txBody>
                    <a:bodyPr/>
                    <a:lstStyle/>
                    <a:p>
                      <a:r>
                        <a:rPr lang="en-US" sz="16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4</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1</a:t>
                      </a:r>
                      <a:r>
                        <a:rPr lang="en-IN" sz="1600" dirty="0">
                          <a:solidFill>
                            <a:schemeClr val="tx1"/>
                          </a:solidFill>
                          <a:latin typeface="Times New Roman" panose="02020603050405020304" pitchFamily="18" charset="0"/>
                          <a:cs typeface="Times New Roman" panose="02020603050405020304" pitchFamily="18" charset="0"/>
                        </a:rPr>
                        <a:t>1</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2221</TotalTime>
  <Words>1228</Words>
  <Application>Microsoft Office PowerPoint</Application>
  <PresentationFormat>Widescreen</PresentationFormat>
  <Paragraphs>149</Paragraphs>
  <Slides>11</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Arial</vt:lpstr>
      <vt:lpstr>Calibri</vt:lpstr>
      <vt:lpstr>Courier New</vt:lpstr>
      <vt:lpstr>Gelasio</vt:lpstr>
      <vt:lpstr>Symbol</vt:lpstr>
      <vt:lpstr>Times New Roman</vt:lpstr>
      <vt:lpstr>Wingdings</vt:lpstr>
      <vt:lpstr>Office Theme</vt:lpstr>
      <vt:lpstr>Office Theme</vt:lpstr>
      <vt:lpstr>PowerPoint Presentation</vt:lpstr>
      <vt:lpstr>Contents</vt:lpstr>
      <vt:lpstr>Title Justification</vt:lpstr>
      <vt:lpstr>Abstract</vt:lpstr>
      <vt:lpstr>Problem Statement</vt:lpstr>
      <vt:lpstr>PowerPoint Presentation</vt:lpstr>
      <vt:lpstr>Literature survey for objectives</vt:lpstr>
      <vt:lpstr> Proposed System</vt:lpstr>
      <vt:lpstr> References</vt:lpstr>
      <vt:lpstr>Git Hub Dashboard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Mahi Yadav</cp:lastModifiedBy>
  <cp:revision>142</cp:revision>
  <dcterms:created xsi:type="dcterms:W3CDTF">2019-06-11T05:35:00Z</dcterms:created>
  <dcterms:modified xsi:type="dcterms:W3CDTF">2026-03-10T17:00:17Z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9BB83942808244A299B002FD6DDC753B</vt:lpwstr>
  </property>
  <property fmtid="{D5CDD505-2E9C-101B-9397-08002B2CF9AE}" pid="3" name="KSOProductBuildVer">
    <vt:lpwstr>1033-12.2.0.18639</vt:lpwstr>
  </property>
  <property fmtid="{D5CDD505-2E9C-101B-9397-08002B2CF9AE}" pid="4" name="PresentationFormat">
    <vt:lpwstr>Widescreen</vt:lpwstr>
  </property>
  <property fmtid="{D5CDD505-2E9C-101B-9397-08002B2CF9AE}" pid="5" name="Slides">
    <vt:i4>8</vt:i4>
  </property>
</Properties>
</file>